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Courier New" charset="1" panose="020703090202050204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Title slide. Introduce yourself, your supervisor, and the core challenge: teaching a humanoid to walk purely from reward signals.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why this problem is hard and what distinguishes this approach from naive attempts.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Humanoid-v4 as a physics benchmark. Emphasize the difficulty of 17 joint coordination.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each reward component. Emphasize the balance between positive signals and cost penalties.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clipping mechanism intuitively: it limits how far the policy can change in one update.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why 12 parallel environments helps: more diverse experience per wall-clock second.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training script section by section. Highlight the VecNormalize and checkpoint saving.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Key point: training=False and norm_reward=False ensures the eval env matches training distribution without leaking reward normalization.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the most impressive results. Mention that the agent went from random flailing to stable walking.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Briefly describe the role of each technology. Emphasize that all components are open-source.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Summarize the project outcome and what you would explore next: curriculum learning, sim-to-real, SAC comparison.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mscsf25m017-web/High-Dimensional-Humanoid-Locomotion-control-using-PPO" TargetMode="External" Type="http://schemas.openxmlformats.org/officeDocument/2006/relationships/hyperlink"/><Relationship Id="rId5" Target="https://github.com/mscsf25m017-web/High-Dimensional-Humanoid-Locomotion-control-using-PPO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07257" y="-2207257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00C2CB">
                <a:alpha val="1176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6388103"/>
            <a:ext cx="6426203" cy="6426203"/>
            <a:chOff x="0" y="0"/>
            <a:chExt cx="8568271" cy="8568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00C2CB">
                <a:alpha val="784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532103" y="-927097"/>
            <a:ext cx="3683003" cy="3683003"/>
            <a:chOff x="0" y="0"/>
            <a:chExt cx="4910671" cy="4910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0709" cy="4910709"/>
            </a:xfrm>
            <a:custGeom>
              <a:avLst/>
              <a:gdLst/>
              <a:ahLst/>
              <a:cxnLst/>
              <a:rect r="r" b="b" t="t" l="l"/>
              <a:pathLst>
                <a:path h="4910709" w="4910709">
                  <a:moveTo>
                    <a:pt x="0" y="2455291"/>
                  </a:moveTo>
                  <a:cubicBezTo>
                    <a:pt x="0" y="1099312"/>
                    <a:pt x="1099312" y="0"/>
                    <a:pt x="2455291" y="0"/>
                  </a:cubicBezTo>
                  <a:cubicBezTo>
                    <a:pt x="3811270" y="0"/>
                    <a:pt x="4910709" y="1099312"/>
                    <a:pt x="4910709" y="2455291"/>
                  </a:cubicBezTo>
                  <a:cubicBezTo>
                    <a:pt x="4910709" y="3811270"/>
                    <a:pt x="3811397" y="4910709"/>
                    <a:pt x="2455291" y="4910709"/>
                  </a:cubicBezTo>
                  <a:cubicBezTo>
                    <a:pt x="1099185" y="4910709"/>
                    <a:pt x="0" y="3811397"/>
                    <a:pt x="0" y="2455291"/>
                  </a:cubicBezTo>
                  <a:close/>
                </a:path>
              </a:pathLst>
            </a:custGeom>
            <a:solidFill>
              <a:srgbClr val="F5C842">
                <a:alpha val="784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84583" y="993143"/>
            <a:ext cx="6609083" cy="665483"/>
            <a:chOff x="0" y="0"/>
            <a:chExt cx="8812111" cy="887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121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12149">
                  <a:moveTo>
                    <a:pt x="0" y="253492"/>
                  </a:moveTo>
                  <a:cubicBezTo>
                    <a:pt x="0" y="113538"/>
                    <a:pt x="113538" y="0"/>
                    <a:pt x="253492" y="0"/>
                  </a:cubicBezTo>
                  <a:lnTo>
                    <a:pt x="8558657" y="0"/>
                  </a:lnTo>
                  <a:cubicBezTo>
                    <a:pt x="8698611" y="0"/>
                    <a:pt x="8812149" y="113538"/>
                    <a:pt x="8812149" y="253492"/>
                  </a:cubicBezTo>
                  <a:lnTo>
                    <a:pt x="8812149" y="633857"/>
                  </a:lnTo>
                  <a:cubicBezTo>
                    <a:pt x="8812149" y="773811"/>
                    <a:pt x="8698611" y="887349"/>
                    <a:pt x="8558657" y="887349"/>
                  </a:cubicBezTo>
                  <a:lnTo>
                    <a:pt x="253492" y="887349"/>
                  </a:lnTo>
                  <a:cubicBezTo>
                    <a:pt x="113538" y="887349"/>
                    <a:pt x="0" y="773811"/>
                    <a:pt x="0" y="633857"/>
                  </a:cubicBezTo>
                  <a:close/>
                </a:path>
              </a:pathLst>
            </a:custGeom>
            <a:solidFill>
              <a:srgbClr val="00C2CB">
                <a:alpha val="392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1005840"/>
            <a:ext cx="6583680" cy="640080"/>
            <a:chOff x="0" y="0"/>
            <a:chExt cx="877824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778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b="true" sz="1600" spc="4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REINFORCEMENT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070106"/>
            <a:ext cx="16459200" cy="1371600"/>
            <a:chOff x="0" y="0"/>
            <a:chExt cx="219456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21945600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High-Dimensional Humanoid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3328416"/>
            <a:ext cx="16459200" cy="1371600"/>
            <a:chOff x="0" y="0"/>
            <a:chExt cx="2194560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42875"/>
              <a:ext cx="21945600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Locomotion Control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4663440"/>
            <a:ext cx="16459200" cy="914400"/>
            <a:chOff x="0" y="0"/>
            <a:chExt cx="219456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194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Proximal Policy Optimization (PPO)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1703" y="5839463"/>
            <a:ext cx="8255003" cy="80267"/>
            <a:chOff x="0" y="0"/>
            <a:chExt cx="11006671" cy="1070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6709" cy="107061"/>
            </a:xfrm>
            <a:custGeom>
              <a:avLst/>
              <a:gdLst/>
              <a:ahLst/>
              <a:cxnLst/>
              <a:rect r="r" b="b" t="t" l="l"/>
              <a:pathLst>
                <a:path h="107061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00C2CB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6126480"/>
            <a:ext cx="15544800" cy="548640"/>
            <a:chOff x="0" y="0"/>
            <a:chExt cx="207264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726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Rida Saeed</a:t>
              </a:r>
              <a:r>
                <a:rPr lang="en-US" sz="22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|   MSCSF25M017   |   M.Sc. Computer Science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6766560"/>
            <a:ext cx="15544800" cy="548640"/>
            <a:chOff x="0" y="0"/>
            <a:chExt cx="207264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PUCIT, University of the Punjab, Lahore   |   Supervised by: Dr. Nazar Ameen Khan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1703" y="7668263"/>
            <a:ext cx="4048763" cy="1031243"/>
            <a:chOff x="0" y="0"/>
            <a:chExt cx="5398351" cy="1374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8389" cy="1375029"/>
            </a:xfrm>
            <a:custGeom>
              <a:avLst/>
              <a:gdLst/>
              <a:ahLst/>
              <a:cxnLst/>
              <a:rect r="r" b="b" t="t" l="l"/>
              <a:pathLst>
                <a:path h="1375029" w="5398389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lnTo>
                    <a:pt x="5198364" y="0"/>
                  </a:lnTo>
                  <a:cubicBezTo>
                    <a:pt x="5308854" y="0"/>
                    <a:pt x="5398389" y="89535"/>
                    <a:pt x="5398389" y="200025"/>
                  </a:cubicBezTo>
                  <a:lnTo>
                    <a:pt x="5398389" y="1175004"/>
                  </a:lnTo>
                  <a:cubicBezTo>
                    <a:pt x="5398389" y="1285494"/>
                    <a:pt x="5308854" y="1375029"/>
                    <a:pt x="5198364" y="1375029"/>
                  </a:cubicBezTo>
                  <a:lnTo>
                    <a:pt x="200025" y="1375029"/>
                  </a:lnTo>
                  <a:cubicBezTo>
                    <a:pt x="89535" y="1375029"/>
                    <a:pt x="0" y="1285494"/>
                    <a:pt x="0" y="117500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7680960"/>
            <a:ext cx="4023360" cy="1005840"/>
            <a:chOff x="0" y="0"/>
            <a:chExt cx="536448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MuJoCo Humanoid-v4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199383" y="7668263"/>
            <a:ext cx="3683003" cy="1031243"/>
            <a:chOff x="0" y="0"/>
            <a:chExt cx="4910671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107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4910709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lnTo>
                    <a:pt x="4710684" y="0"/>
                  </a:lnTo>
                  <a:cubicBezTo>
                    <a:pt x="4821174" y="0"/>
                    <a:pt x="4910709" y="89535"/>
                    <a:pt x="4910709" y="200025"/>
                  </a:cubicBezTo>
                  <a:lnTo>
                    <a:pt x="4910709" y="1175004"/>
                  </a:lnTo>
                  <a:cubicBezTo>
                    <a:pt x="4910709" y="1285494"/>
                    <a:pt x="4821174" y="1375029"/>
                    <a:pt x="4710684" y="1375029"/>
                  </a:cubicBezTo>
                  <a:lnTo>
                    <a:pt x="200025" y="1375029"/>
                  </a:lnTo>
                  <a:cubicBezTo>
                    <a:pt x="89535" y="1375029"/>
                    <a:pt x="0" y="1285494"/>
                    <a:pt x="0" y="117500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12080" y="7680960"/>
            <a:ext cx="3657600" cy="1005840"/>
            <a:chOff x="0" y="0"/>
            <a:chExt cx="487680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15M Timesteps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31303" y="7668263"/>
            <a:ext cx="3683003" cy="1031243"/>
            <a:chOff x="0" y="0"/>
            <a:chExt cx="4910671" cy="13749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107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4910709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lnTo>
                    <a:pt x="4710684" y="0"/>
                  </a:lnTo>
                  <a:cubicBezTo>
                    <a:pt x="4821174" y="0"/>
                    <a:pt x="4910709" y="89535"/>
                    <a:pt x="4910709" y="200025"/>
                  </a:cubicBezTo>
                  <a:lnTo>
                    <a:pt x="4910709" y="1175004"/>
                  </a:lnTo>
                  <a:cubicBezTo>
                    <a:pt x="4910709" y="1285494"/>
                    <a:pt x="4821174" y="1375029"/>
                    <a:pt x="4710684" y="1375029"/>
                  </a:cubicBezTo>
                  <a:lnTo>
                    <a:pt x="200025" y="1375029"/>
                  </a:lnTo>
                  <a:cubicBezTo>
                    <a:pt x="89535" y="1375029"/>
                    <a:pt x="0" y="1285494"/>
                    <a:pt x="0" y="117500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0" y="7680960"/>
            <a:ext cx="3657600" cy="1005840"/>
            <a:chOff x="0" y="0"/>
            <a:chExt cx="48768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Parallel Workers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063223" y="7668263"/>
            <a:ext cx="4048763" cy="1031243"/>
            <a:chOff x="0" y="0"/>
            <a:chExt cx="5398351" cy="13749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389" cy="1375029"/>
            </a:xfrm>
            <a:custGeom>
              <a:avLst/>
              <a:gdLst/>
              <a:ahLst/>
              <a:cxnLst/>
              <a:rect r="r" b="b" t="t" l="l"/>
              <a:pathLst>
                <a:path h="1375029" w="5398389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lnTo>
                    <a:pt x="5198364" y="0"/>
                  </a:lnTo>
                  <a:cubicBezTo>
                    <a:pt x="5308854" y="0"/>
                    <a:pt x="5398389" y="89535"/>
                    <a:pt x="5398389" y="200025"/>
                  </a:cubicBezTo>
                  <a:lnTo>
                    <a:pt x="5398389" y="1175004"/>
                  </a:lnTo>
                  <a:cubicBezTo>
                    <a:pt x="5398389" y="1285494"/>
                    <a:pt x="5308854" y="1375029"/>
                    <a:pt x="5198364" y="1375029"/>
                  </a:cubicBezTo>
                  <a:lnTo>
                    <a:pt x="200025" y="1375029"/>
                  </a:lnTo>
                  <a:cubicBezTo>
                    <a:pt x="89535" y="1375029"/>
                    <a:pt x="0" y="1285494"/>
                    <a:pt x="0" y="117500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E8EDF5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075920" y="7680960"/>
            <a:ext cx="4023360" cy="1005840"/>
            <a:chOff x="0" y="0"/>
            <a:chExt cx="536448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8ED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Stable-Baselines3 + PyTorch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Built &amp; Why It Matters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639063"/>
            <a:ext cx="5328923" cy="6609083"/>
            <a:chOff x="0" y="0"/>
            <a:chExt cx="7105231" cy="8812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269" cy="8812149"/>
            </a:xfrm>
            <a:custGeom>
              <a:avLst/>
              <a:gdLst/>
              <a:ahLst/>
              <a:cxnLst/>
              <a:rect r="r" b="b" t="t" l="l"/>
              <a:pathLst>
                <a:path h="8812149" w="7105269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811264" y="0"/>
                  </a:lnTo>
                  <a:cubicBezTo>
                    <a:pt x="6973697" y="0"/>
                    <a:pt x="7105269" y="131572"/>
                    <a:pt x="7105269" y="294005"/>
                  </a:cubicBezTo>
                  <a:lnTo>
                    <a:pt x="7105269" y="8518144"/>
                  </a:lnTo>
                  <a:cubicBezTo>
                    <a:pt x="7105269" y="8680576"/>
                    <a:pt x="6973697" y="8812149"/>
                    <a:pt x="6811264" y="8812149"/>
                  </a:cubicBezTo>
                  <a:lnTo>
                    <a:pt x="294005" y="8812149"/>
                  </a:lnTo>
                  <a:cubicBezTo>
                    <a:pt x="131572" y="8812149"/>
                    <a:pt x="0" y="8680450"/>
                    <a:pt x="0" y="851814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76023" y="2913383"/>
            <a:ext cx="848363" cy="848363"/>
            <a:chOff x="0" y="0"/>
            <a:chExt cx="1131151" cy="11311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980313" y="0"/>
                  </a:lnTo>
                  <a:cubicBezTo>
                    <a:pt x="1063625" y="0"/>
                    <a:pt x="1131189" y="67564"/>
                    <a:pt x="1131189" y="150876"/>
                  </a:cubicBezTo>
                  <a:lnTo>
                    <a:pt x="1131189" y="980313"/>
                  </a:lnTo>
                  <a:cubicBezTo>
                    <a:pt x="1131189" y="1063625"/>
                    <a:pt x="1063625" y="1131189"/>
                    <a:pt x="980313" y="1131189"/>
                  </a:cubicBezTo>
                  <a:lnTo>
                    <a:pt x="150876" y="1131189"/>
                  </a:lnTo>
                  <a:cubicBezTo>
                    <a:pt x="67564" y="1131189"/>
                    <a:pt x="0" y="1063625"/>
                    <a:pt x="0" y="980313"/>
                  </a:cubicBezTo>
                  <a:close/>
                </a:path>
              </a:pathLst>
            </a:custGeom>
            <a:solidFill>
              <a:srgbClr val="00C2CB">
                <a:alpha val="588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2926080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" y="3931920"/>
            <a:ext cx="4754880" cy="640080"/>
            <a:chOff x="0" y="0"/>
            <a:chExt cx="633984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Challenge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88720" y="4615815"/>
            <a:ext cx="4754880" cy="434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Humanoid locomotion is one of the hardest problems in DRL — 17 joint DoFs, continuous torques, strict balance constraints, and no motion capture data.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98999" y="2639063"/>
            <a:ext cx="5328923" cy="6609083"/>
            <a:chOff x="0" y="0"/>
            <a:chExt cx="7105231" cy="8812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5269" cy="8812149"/>
            </a:xfrm>
            <a:custGeom>
              <a:avLst/>
              <a:gdLst/>
              <a:ahLst/>
              <a:cxnLst/>
              <a:rect r="r" b="b" t="t" l="l"/>
              <a:pathLst>
                <a:path h="8812149" w="7105269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811264" y="0"/>
                  </a:lnTo>
                  <a:cubicBezTo>
                    <a:pt x="6973697" y="0"/>
                    <a:pt x="7105269" y="131572"/>
                    <a:pt x="7105269" y="294005"/>
                  </a:cubicBezTo>
                  <a:lnTo>
                    <a:pt x="7105269" y="8518144"/>
                  </a:lnTo>
                  <a:cubicBezTo>
                    <a:pt x="7105269" y="8680576"/>
                    <a:pt x="6973697" y="8812149"/>
                    <a:pt x="6811264" y="8812149"/>
                  </a:cubicBezTo>
                  <a:lnTo>
                    <a:pt x="294005" y="8812149"/>
                  </a:lnTo>
                  <a:cubicBezTo>
                    <a:pt x="131572" y="8812149"/>
                    <a:pt x="0" y="8680450"/>
                    <a:pt x="0" y="851814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973319" y="2913383"/>
            <a:ext cx="848363" cy="848363"/>
            <a:chOff x="0" y="0"/>
            <a:chExt cx="1131151" cy="11311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980313" y="0"/>
                  </a:lnTo>
                  <a:cubicBezTo>
                    <a:pt x="1063625" y="0"/>
                    <a:pt x="1131189" y="67564"/>
                    <a:pt x="1131189" y="150876"/>
                  </a:cubicBezTo>
                  <a:lnTo>
                    <a:pt x="1131189" y="980313"/>
                  </a:lnTo>
                  <a:cubicBezTo>
                    <a:pt x="1131189" y="1063625"/>
                    <a:pt x="1063625" y="1131189"/>
                    <a:pt x="980313" y="1131189"/>
                  </a:cubicBezTo>
                  <a:lnTo>
                    <a:pt x="150876" y="1131189"/>
                  </a:lnTo>
                  <a:cubicBezTo>
                    <a:pt x="67564" y="1131189"/>
                    <a:pt x="0" y="1063625"/>
                    <a:pt x="0" y="980313"/>
                  </a:cubicBezTo>
                  <a:close/>
                </a:path>
              </a:pathLst>
            </a:custGeom>
            <a:solidFill>
              <a:srgbClr val="F5C842">
                <a:alpha val="5882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986016" y="292608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86016" y="3931920"/>
            <a:ext cx="4754880" cy="640080"/>
            <a:chOff x="0" y="0"/>
            <a:chExt cx="633984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986016" y="4615815"/>
            <a:ext cx="4754880" cy="434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PPO with parallelized VecEnv workers, observation &amp; reward normalization, and a composite reward driving forward speed, posture, and efficiency.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496295" y="2639063"/>
            <a:ext cx="5328923" cy="6609083"/>
            <a:chOff x="0" y="0"/>
            <a:chExt cx="7105231" cy="8812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05269" cy="8812149"/>
            </a:xfrm>
            <a:custGeom>
              <a:avLst/>
              <a:gdLst/>
              <a:ahLst/>
              <a:cxnLst/>
              <a:rect r="r" b="b" t="t" l="l"/>
              <a:pathLst>
                <a:path h="8812149" w="7105269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811264" y="0"/>
                  </a:lnTo>
                  <a:cubicBezTo>
                    <a:pt x="6973697" y="0"/>
                    <a:pt x="7105269" y="131572"/>
                    <a:pt x="7105269" y="294005"/>
                  </a:cubicBezTo>
                  <a:lnTo>
                    <a:pt x="7105269" y="8518144"/>
                  </a:lnTo>
                  <a:cubicBezTo>
                    <a:pt x="7105269" y="8680576"/>
                    <a:pt x="6973697" y="8812149"/>
                    <a:pt x="6811264" y="8812149"/>
                  </a:cubicBezTo>
                  <a:lnTo>
                    <a:pt x="294005" y="8812149"/>
                  </a:lnTo>
                  <a:cubicBezTo>
                    <a:pt x="131572" y="8812149"/>
                    <a:pt x="0" y="8680450"/>
                    <a:pt x="0" y="851814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770615" y="2913383"/>
            <a:ext cx="848363" cy="848363"/>
            <a:chOff x="0" y="0"/>
            <a:chExt cx="1131151" cy="113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980313" y="0"/>
                  </a:lnTo>
                  <a:cubicBezTo>
                    <a:pt x="1063625" y="0"/>
                    <a:pt x="1131189" y="67564"/>
                    <a:pt x="1131189" y="150876"/>
                  </a:cubicBezTo>
                  <a:lnTo>
                    <a:pt x="1131189" y="980313"/>
                  </a:lnTo>
                  <a:cubicBezTo>
                    <a:pt x="1131189" y="1063625"/>
                    <a:pt x="1063625" y="1131189"/>
                    <a:pt x="980313" y="1131189"/>
                  </a:cubicBezTo>
                  <a:lnTo>
                    <a:pt x="150876" y="1131189"/>
                  </a:lnTo>
                  <a:cubicBezTo>
                    <a:pt x="67564" y="1131189"/>
                    <a:pt x="0" y="1063625"/>
                    <a:pt x="0" y="980313"/>
                  </a:cubicBezTo>
                  <a:close/>
                </a:path>
              </a:pathLst>
            </a:custGeom>
            <a:solidFill>
              <a:srgbClr val="22D3A5">
                <a:alpha val="5882"/>
              </a:srgbClr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783312" y="2926080"/>
            <a:ext cx="822960" cy="822960"/>
            <a:chOff x="0" y="0"/>
            <a:chExt cx="10972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783312" y="3931920"/>
            <a:ext cx="4754880" cy="640080"/>
            <a:chOff x="0" y="0"/>
            <a:chExt cx="633984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Outcome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783312" y="4615815"/>
            <a:ext cx="4754880" cy="434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After 15M timesteps on CPU, the agent learned stable, coordinated bipedal walking with natural gait patterns and consistent balance recovery.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MuJoCo Humanoid-v4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639063"/>
            <a:ext cx="8255003" cy="6791963"/>
            <a:chOff x="0" y="0"/>
            <a:chExt cx="11006671" cy="9055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06582" cy="9055862"/>
            </a:xfrm>
            <a:custGeom>
              <a:avLst/>
              <a:gdLst/>
              <a:ahLst/>
              <a:cxnLst/>
              <a:rect r="r" b="b" t="t" l="l"/>
              <a:pathLst>
                <a:path h="9055862" w="1100658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761853" y="0"/>
                  </a:lnTo>
                  <a:cubicBezTo>
                    <a:pt x="10896981" y="0"/>
                    <a:pt x="11006582" y="109601"/>
                    <a:pt x="11006582" y="244729"/>
                  </a:cubicBezTo>
                  <a:lnTo>
                    <a:pt x="11006582" y="8811133"/>
                  </a:lnTo>
                  <a:cubicBezTo>
                    <a:pt x="11006582" y="8946261"/>
                    <a:pt x="10896981" y="9055862"/>
                    <a:pt x="10761853" y="9055862"/>
                  </a:cubicBezTo>
                  <a:lnTo>
                    <a:pt x="244729" y="9055862"/>
                  </a:lnTo>
                  <a:cubicBezTo>
                    <a:pt x="109601" y="9055989"/>
                    <a:pt x="0" y="8946388"/>
                    <a:pt x="0" y="8811133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2926080"/>
            <a:ext cx="7680960" cy="548640"/>
            <a:chOff x="0" y="0"/>
            <a:chExt cx="102412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Joint Configuration — 17 DoF Total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3644903"/>
            <a:ext cx="7797803" cy="756923"/>
            <a:chOff x="0" y="0"/>
            <a:chExt cx="10397071" cy="1009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971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0C2CB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3730752"/>
            <a:ext cx="3657600" cy="585216"/>
            <a:chOff x="0" y="0"/>
            <a:chExt cx="487680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Body Segment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46320" y="3730752"/>
            <a:ext cx="1280160" cy="585216"/>
            <a:chOff x="0" y="0"/>
            <a:chExt cx="170688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3730752"/>
            <a:ext cx="2743200" cy="585216"/>
            <a:chOff x="0" y="0"/>
            <a:chExt cx="36576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780288"/>
            </a:xfrm>
            <a:custGeom>
              <a:avLst/>
              <a:gdLst/>
              <a:ahLst/>
              <a:cxnLst/>
              <a:rect r="r" b="b" t="t" l="l"/>
              <a:pathLst>
                <a:path h="78028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4583" y="4449575"/>
            <a:ext cx="7797803" cy="756923"/>
            <a:chOff x="0" y="0"/>
            <a:chExt cx="10397071" cy="10092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971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A1C3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" y="4535424"/>
            <a:ext cx="3657600" cy="585216"/>
            <a:chOff x="0" y="0"/>
            <a:chExt cx="4876800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Abdomen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846320" y="4535424"/>
            <a:ext cx="1280160" cy="585216"/>
            <a:chOff x="0" y="0"/>
            <a:chExt cx="170688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17920" y="4535424"/>
            <a:ext cx="2743200" cy="585216"/>
            <a:chOff x="0" y="0"/>
            <a:chExt cx="365760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780288"/>
            </a:xfrm>
            <a:custGeom>
              <a:avLst/>
              <a:gdLst/>
              <a:ahLst/>
              <a:cxnLst/>
              <a:rect r="r" b="b" t="t" l="l"/>
              <a:pathLst>
                <a:path h="78028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Torso stabilization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84583" y="5254247"/>
            <a:ext cx="7797803" cy="756923"/>
            <a:chOff x="0" y="0"/>
            <a:chExt cx="10397071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971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88720" y="5340096"/>
            <a:ext cx="3657600" cy="585216"/>
            <a:chOff x="0" y="0"/>
            <a:chExt cx="487680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Hips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846320" y="5340096"/>
            <a:ext cx="1280160" cy="585216"/>
            <a:chOff x="0" y="0"/>
            <a:chExt cx="1706880" cy="780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217920" y="5340096"/>
            <a:ext cx="2743200" cy="585216"/>
            <a:chOff x="0" y="0"/>
            <a:chExt cx="3657600" cy="780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780288"/>
            </a:xfrm>
            <a:custGeom>
              <a:avLst/>
              <a:gdLst/>
              <a:ahLst/>
              <a:cxnLst/>
              <a:rect r="r" b="b" t="t" l="l"/>
              <a:pathLst>
                <a:path h="78028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Stride generation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84583" y="6058919"/>
            <a:ext cx="7797803" cy="756923"/>
            <a:chOff x="0" y="0"/>
            <a:chExt cx="10397071" cy="100923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971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A1C3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" y="6144768"/>
            <a:ext cx="3657600" cy="585216"/>
            <a:chOff x="0" y="0"/>
            <a:chExt cx="487680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Knees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846320" y="6144768"/>
            <a:ext cx="1280160" cy="585216"/>
            <a:chOff x="0" y="0"/>
            <a:chExt cx="170688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17920" y="6144768"/>
            <a:ext cx="2743200" cy="585216"/>
            <a:chOff x="0" y="0"/>
            <a:chExt cx="365760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780288"/>
            </a:xfrm>
            <a:custGeom>
              <a:avLst/>
              <a:gdLst/>
              <a:ahLst/>
              <a:cxnLst/>
              <a:rect r="r" b="b" t="t" l="l"/>
              <a:pathLst>
                <a:path h="78028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 extension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4583" y="6863591"/>
            <a:ext cx="7797803" cy="756923"/>
            <a:chOff x="0" y="0"/>
            <a:chExt cx="10397071" cy="10092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3971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88720" y="6949440"/>
            <a:ext cx="3657600" cy="585216"/>
            <a:chOff x="0" y="0"/>
            <a:chExt cx="4876800" cy="7802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Ankles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846320" y="6949440"/>
            <a:ext cx="1280160" cy="585216"/>
            <a:chOff x="0" y="0"/>
            <a:chExt cx="170688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217920" y="6949440"/>
            <a:ext cx="2743200" cy="585216"/>
            <a:chOff x="0" y="0"/>
            <a:chExt cx="3657600" cy="7802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780288"/>
            </a:xfrm>
            <a:custGeom>
              <a:avLst/>
              <a:gdLst/>
              <a:ahLst/>
              <a:cxnLst/>
              <a:rect r="r" b="b" t="t" l="l"/>
              <a:pathLst>
                <a:path h="78028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Foot balance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4583" y="7668263"/>
            <a:ext cx="7797803" cy="756923"/>
            <a:chOff x="0" y="0"/>
            <a:chExt cx="10397071" cy="100923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3971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A1C3E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88720" y="7754112"/>
            <a:ext cx="3657600" cy="585216"/>
            <a:chOff x="0" y="0"/>
            <a:chExt cx="4876800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Shoulders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846320" y="7754112"/>
            <a:ext cx="1280160" cy="585216"/>
            <a:chOff x="0" y="0"/>
            <a:chExt cx="1706880" cy="7802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217920" y="7754112"/>
            <a:ext cx="2743200" cy="585216"/>
            <a:chOff x="0" y="0"/>
            <a:chExt cx="3657600" cy="7802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780288"/>
            </a:xfrm>
            <a:custGeom>
              <a:avLst/>
              <a:gdLst/>
              <a:ahLst/>
              <a:cxnLst/>
              <a:rect r="r" b="b" t="t" l="l"/>
              <a:pathLst>
                <a:path h="78028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Arm swing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84583" y="8472935"/>
            <a:ext cx="7797803" cy="756923"/>
            <a:chOff x="0" y="0"/>
            <a:chExt cx="10397071" cy="100923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3971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188720" y="8558784"/>
            <a:ext cx="3657600" cy="585216"/>
            <a:chOff x="0" y="0"/>
            <a:chExt cx="487680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Elbows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846320" y="8558784"/>
            <a:ext cx="1280160" cy="585216"/>
            <a:chOff x="0" y="0"/>
            <a:chExt cx="1706880" cy="78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217920" y="8558784"/>
            <a:ext cx="2743200" cy="585216"/>
            <a:chOff x="0" y="0"/>
            <a:chExt cx="3657600" cy="78028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780288"/>
            </a:xfrm>
            <a:custGeom>
              <a:avLst/>
              <a:gdLst/>
              <a:ahLst/>
              <a:cxnLst/>
              <a:rect r="r" b="b" t="t" l="l"/>
              <a:pathLst>
                <a:path h="78028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Arm articulation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79943" y="2639063"/>
            <a:ext cx="7523483" cy="2037083"/>
            <a:chOff x="0" y="0"/>
            <a:chExt cx="10031311" cy="27161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0312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031222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9784334" y="0"/>
                  </a:lnTo>
                  <a:cubicBezTo>
                    <a:pt x="9920732" y="0"/>
                    <a:pt x="10031222" y="110490"/>
                    <a:pt x="10031222" y="246888"/>
                  </a:cubicBezTo>
                  <a:lnTo>
                    <a:pt x="10031222" y="2469134"/>
                  </a:lnTo>
                  <a:cubicBezTo>
                    <a:pt x="10031222" y="2605532"/>
                    <a:pt x="9920732" y="2716022"/>
                    <a:pt x="9784334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9692640" y="2743200"/>
            <a:ext cx="7498080" cy="1005840"/>
            <a:chOff x="0" y="0"/>
            <a:chExt cx="9997440" cy="13411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52400"/>
              <a:ext cx="999744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692640" y="3785616"/>
            <a:ext cx="7498080" cy="585216"/>
            <a:chOff x="0" y="0"/>
            <a:chExt cx="9997440" cy="7802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Rotational DoF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79943" y="4925063"/>
            <a:ext cx="7523483" cy="2037083"/>
            <a:chOff x="0" y="0"/>
            <a:chExt cx="10031311" cy="27161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0312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031222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9784334" y="0"/>
                  </a:lnTo>
                  <a:cubicBezTo>
                    <a:pt x="9920732" y="0"/>
                    <a:pt x="10031222" y="110490"/>
                    <a:pt x="10031222" y="246888"/>
                  </a:cubicBezTo>
                  <a:lnTo>
                    <a:pt x="10031222" y="2469134"/>
                  </a:lnTo>
                  <a:cubicBezTo>
                    <a:pt x="10031222" y="2605532"/>
                    <a:pt x="9920732" y="2716022"/>
                    <a:pt x="9784334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9692640" y="5029200"/>
            <a:ext cx="7498080" cy="1005840"/>
            <a:chOff x="0" y="0"/>
            <a:chExt cx="9997440" cy="13411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52400"/>
              <a:ext cx="999744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376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692640" y="6071616"/>
            <a:ext cx="7498080" cy="585216"/>
            <a:chOff x="0" y="0"/>
            <a:chExt cx="9997440" cy="78028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Obs. Dimensions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79943" y="7211063"/>
            <a:ext cx="7523483" cy="2037083"/>
            <a:chOff x="0" y="0"/>
            <a:chExt cx="10031311" cy="271611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0312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031222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9784334" y="0"/>
                  </a:lnTo>
                  <a:cubicBezTo>
                    <a:pt x="9920732" y="0"/>
                    <a:pt x="10031222" y="110490"/>
                    <a:pt x="10031222" y="246888"/>
                  </a:cubicBezTo>
                  <a:lnTo>
                    <a:pt x="10031222" y="2469134"/>
                  </a:lnTo>
                  <a:cubicBezTo>
                    <a:pt x="10031222" y="2605532"/>
                    <a:pt x="9920732" y="2716022"/>
                    <a:pt x="9784334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692640" y="7315200"/>
            <a:ext cx="7498080" cy="1005840"/>
            <a:chOff x="0" y="0"/>
            <a:chExt cx="9997440" cy="13411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52400"/>
              <a:ext cx="999744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92640" y="8357616"/>
            <a:ext cx="7498080" cy="585216"/>
            <a:chOff x="0" y="0"/>
            <a:chExt cx="9997440" cy="7802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Action Dims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 FUNCTION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Shaping Intelligent Behavior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730503" y="2547623"/>
            <a:ext cx="12827003" cy="1397003"/>
            <a:chOff x="0" y="0"/>
            <a:chExt cx="17102671" cy="1862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027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17102710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16854297" y="0"/>
                  </a:lnTo>
                  <a:cubicBezTo>
                    <a:pt x="16991457" y="0"/>
                    <a:pt x="17102710" y="111252"/>
                    <a:pt x="17102710" y="248412"/>
                  </a:cubicBezTo>
                  <a:lnTo>
                    <a:pt x="17102710" y="1614297"/>
                  </a:lnTo>
                  <a:cubicBezTo>
                    <a:pt x="17102710" y="1751457"/>
                    <a:pt x="16991457" y="1862709"/>
                    <a:pt x="16854297" y="1862709"/>
                  </a:cubicBezTo>
                  <a:lnTo>
                    <a:pt x="248412" y="1862709"/>
                  </a:lnTo>
                  <a:cubicBezTo>
                    <a:pt x="111252" y="1862709"/>
                    <a:pt x="0" y="1751457"/>
                    <a:pt x="0" y="1614297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743200" y="2560320"/>
            <a:ext cx="12801600" cy="1371600"/>
            <a:chOff x="0" y="0"/>
            <a:chExt cx="1706880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70688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R_total  =  R_forward  +  R_healthy  −  C_control  −  C_impact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1703" y="4284983"/>
            <a:ext cx="8255003" cy="2311403"/>
            <a:chOff x="0" y="0"/>
            <a:chExt cx="11006671" cy="30818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65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11006582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10760075" y="0"/>
                  </a:lnTo>
                  <a:cubicBezTo>
                    <a:pt x="10896219" y="0"/>
                    <a:pt x="11006582" y="110363"/>
                    <a:pt x="11006582" y="246507"/>
                  </a:cubicBezTo>
                  <a:lnTo>
                    <a:pt x="11006582" y="2835275"/>
                  </a:lnTo>
                  <a:cubicBezTo>
                    <a:pt x="11006582" y="2971419"/>
                    <a:pt x="10896219" y="3081782"/>
                    <a:pt x="10760075" y="3081782"/>
                  </a:cubicBezTo>
                  <a:lnTo>
                    <a:pt x="246507" y="3081782"/>
                  </a:lnTo>
                  <a:cubicBezTo>
                    <a:pt x="110363" y="3081909"/>
                    <a:pt x="0" y="2971546"/>
                    <a:pt x="0" y="2835275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21159" y="4504439"/>
            <a:ext cx="1031243" cy="1031243"/>
            <a:chOff x="0" y="0"/>
            <a:chExt cx="137499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5029" cy="1375029"/>
            </a:xfrm>
            <a:custGeom>
              <a:avLst/>
              <a:gdLst/>
              <a:ahLst/>
              <a:cxnLst/>
              <a:rect r="r" b="b" t="t" l="l"/>
              <a:pathLst>
                <a:path h="1375029" w="1375029">
                  <a:moveTo>
                    <a:pt x="0" y="175006"/>
                  </a:moveTo>
                  <a:cubicBezTo>
                    <a:pt x="0" y="78359"/>
                    <a:pt x="78359" y="0"/>
                    <a:pt x="175006" y="0"/>
                  </a:cubicBezTo>
                  <a:lnTo>
                    <a:pt x="1200023" y="0"/>
                  </a:lnTo>
                  <a:cubicBezTo>
                    <a:pt x="1296670" y="0"/>
                    <a:pt x="1375029" y="78359"/>
                    <a:pt x="1375029" y="175006"/>
                  </a:cubicBezTo>
                  <a:lnTo>
                    <a:pt x="1375029" y="1200023"/>
                  </a:lnTo>
                  <a:cubicBezTo>
                    <a:pt x="1375029" y="1296670"/>
                    <a:pt x="1296670" y="1375029"/>
                    <a:pt x="1200023" y="1375029"/>
                  </a:cubicBezTo>
                  <a:lnTo>
                    <a:pt x="175006" y="1375029"/>
                  </a:lnTo>
                  <a:cubicBezTo>
                    <a:pt x="78359" y="1375029"/>
                    <a:pt x="0" y="1296670"/>
                    <a:pt x="0" y="1200023"/>
                  </a:cubicBezTo>
                  <a:close/>
                </a:path>
              </a:pathLst>
            </a:custGeom>
            <a:solidFill>
              <a:srgbClr val="00C2CB">
                <a:alpha val="392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33856" y="4517136"/>
            <a:ext cx="1005840" cy="1005840"/>
            <a:chOff x="0" y="0"/>
            <a:chExt cx="1341120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40864" y="4480560"/>
            <a:ext cx="6583680" cy="512064"/>
            <a:chOff x="0" y="0"/>
            <a:chExt cx="877824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778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Forward Reward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340864" y="4954524"/>
            <a:ext cx="658368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Rewards positive velocity along the x-axis. Primary locomotion driver — the agent is incentivized to move forward continuously.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88503" y="4284983"/>
            <a:ext cx="8255003" cy="2311403"/>
            <a:chOff x="0" y="0"/>
            <a:chExt cx="11006671" cy="30818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065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11006582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10760075" y="0"/>
                  </a:lnTo>
                  <a:cubicBezTo>
                    <a:pt x="10896219" y="0"/>
                    <a:pt x="11006582" y="110363"/>
                    <a:pt x="11006582" y="246507"/>
                  </a:cubicBezTo>
                  <a:lnTo>
                    <a:pt x="11006582" y="2835275"/>
                  </a:lnTo>
                  <a:cubicBezTo>
                    <a:pt x="11006582" y="2971419"/>
                    <a:pt x="10896219" y="3081782"/>
                    <a:pt x="10760075" y="3081782"/>
                  </a:cubicBezTo>
                  <a:lnTo>
                    <a:pt x="246507" y="3081782"/>
                  </a:lnTo>
                  <a:cubicBezTo>
                    <a:pt x="110363" y="3081909"/>
                    <a:pt x="0" y="2971546"/>
                    <a:pt x="0" y="2835275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807959" y="4504439"/>
            <a:ext cx="1031243" cy="1031243"/>
            <a:chOff x="0" y="0"/>
            <a:chExt cx="1374991" cy="1374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5029" cy="1375029"/>
            </a:xfrm>
            <a:custGeom>
              <a:avLst/>
              <a:gdLst/>
              <a:ahLst/>
              <a:cxnLst/>
              <a:rect r="r" b="b" t="t" l="l"/>
              <a:pathLst>
                <a:path h="1375029" w="1375029">
                  <a:moveTo>
                    <a:pt x="0" y="175006"/>
                  </a:moveTo>
                  <a:cubicBezTo>
                    <a:pt x="0" y="78359"/>
                    <a:pt x="78359" y="0"/>
                    <a:pt x="175006" y="0"/>
                  </a:cubicBezTo>
                  <a:lnTo>
                    <a:pt x="1200023" y="0"/>
                  </a:lnTo>
                  <a:cubicBezTo>
                    <a:pt x="1296670" y="0"/>
                    <a:pt x="1375029" y="78359"/>
                    <a:pt x="1375029" y="175006"/>
                  </a:cubicBezTo>
                  <a:lnTo>
                    <a:pt x="1375029" y="1200023"/>
                  </a:lnTo>
                  <a:cubicBezTo>
                    <a:pt x="1375029" y="1296670"/>
                    <a:pt x="1296670" y="1375029"/>
                    <a:pt x="1200023" y="1375029"/>
                  </a:cubicBezTo>
                  <a:lnTo>
                    <a:pt x="175006" y="1375029"/>
                  </a:lnTo>
                  <a:cubicBezTo>
                    <a:pt x="78359" y="1375029"/>
                    <a:pt x="0" y="1296670"/>
                    <a:pt x="0" y="1200023"/>
                  </a:cubicBezTo>
                  <a:close/>
                </a:path>
              </a:pathLst>
            </a:custGeom>
            <a:solidFill>
              <a:srgbClr val="22D3A5">
                <a:alpha val="3922"/>
              </a:srgbClr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820656" y="4517136"/>
            <a:ext cx="1005840" cy="1005840"/>
            <a:chOff x="0" y="0"/>
            <a:chExt cx="134112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27664" y="4480560"/>
            <a:ext cx="6583680" cy="512064"/>
            <a:chOff x="0" y="0"/>
            <a:chExt cx="877824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778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Healthy Reward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027664" y="4954524"/>
            <a:ext cx="658368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Survival bonus awarded every timestep the humanoid maintains a valid upright posture within predefined height bounds.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01703" y="6845303"/>
            <a:ext cx="8255003" cy="2311403"/>
            <a:chOff x="0" y="0"/>
            <a:chExt cx="11006671" cy="30818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065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11006582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10760075" y="0"/>
                  </a:lnTo>
                  <a:cubicBezTo>
                    <a:pt x="10896219" y="0"/>
                    <a:pt x="11006582" y="110363"/>
                    <a:pt x="11006582" y="246507"/>
                  </a:cubicBezTo>
                  <a:lnTo>
                    <a:pt x="11006582" y="2835275"/>
                  </a:lnTo>
                  <a:cubicBezTo>
                    <a:pt x="11006582" y="2971419"/>
                    <a:pt x="10896219" y="3081782"/>
                    <a:pt x="10760075" y="3081782"/>
                  </a:cubicBezTo>
                  <a:lnTo>
                    <a:pt x="246507" y="3081782"/>
                  </a:lnTo>
                  <a:cubicBezTo>
                    <a:pt x="110363" y="3081909"/>
                    <a:pt x="0" y="2971546"/>
                    <a:pt x="0" y="2835275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21159" y="7064759"/>
            <a:ext cx="1031243" cy="1031243"/>
            <a:chOff x="0" y="0"/>
            <a:chExt cx="1374991" cy="1374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5029" cy="1375029"/>
            </a:xfrm>
            <a:custGeom>
              <a:avLst/>
              <a:gdLst/>
              <a:ahLst/>
              <a:cxnLst/>
              <a:rect r="r" b="b" t="t" l="l"/>
              <a:pathLst>
                <a:path h="1375029" w="1375029">
                  <a:moveTo>
                    <a:pt x="0" y="175006"/>
                  </a:moveTo>
                  <a:cubicBezTo>
                    <a:pt x="0" y="78359"/>
                    <a:pt x="78359" y="0"/>
                    <a:pt x="175006" y="0"/>
                  </a:cubicBezTo>
                  <a:lnTo>
                    <a:pt x="1200023" y="0"/>
                  </a:lnTo>
                  <a:cubicBezTo>
                    <a:pt x="1296670" y="0"/>
                    <a:pt x="1375029" y="78359"/>
                    <a:pt x="1375029" y="175006"/>
                  </a:cubicBezTo>
                  <a:lnTo>
                    <a:pt x="1375029" y="1200023"/>
                  </a:lnTo>
                  <a:cubicBezTo>
                    <a:pt x="1375029" y="1296670"/>
                    <a:pt x="1296670" y="1375029"/>
                    <a:pt x="1200023" y="1375029"/>
                  </a:cubicBezTo>
                  <a:lnTo>
                    <a:pt x="175006" y="1375029"/>
                  </a:lnTo>
                  <a:cubicBezTo>
                    <a:pt x="78359" y="1375029"/>
                    <a:pt x="0" y="1296670"/>
                    <a:pt x="0" y="1200023"/>
                  </a:cubicBezTo>
                  <a:close/>
                </a:path>
              </a:pathLst>
            </a:custGeom>
            <a:solidFill>
              <a:srgbClr val="F5C842">
                <a:alpha val="3922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33856" y="7077456"/>
            <a:ext cx="1005840" cy="1005840"/>
            <a:chOff x="0" y="0"/>
            <a:chExt cx="134112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340864" y="7040880"/>
            <a:ext cx="6583680" cy="512064"/>
            <a:chOff x="0" y="0"/>
            <a:chExt cx="877824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778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Cost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340864" y="7514844"/>
            <a:ext cx="658368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Penalizes large actuator torques. Encourages smooth, energy-efficient motion over jittery, high-effort movements.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588503" y="6845303"/>
            <a:ext cx="8255003" cy="2311403"/>
            <a:chOff x="0" y="0"/>
            <a:chExt cx="11006671" cy="30818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065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11006582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10760075" y="0"/>
                  </a:lnTo>
                  <a:cubicBezTo>
                    <a:pt x="10896219" y="0"/>
                    <a:pt x="11006582" y="110363"/>
                    <a:pt x="11006582" y="246507"/>
                  </a:cubicBezTo>
                  <a:lnTo>
                    <a:pt x="11006582" y="2835275"/>
                  </a:lnTo>
                  <a:cubicBezTo>
                    <a:pt x="11006582" y="2971419"/>
                    <a:pt x="10896219" y="3081782"/>
                    <a:pt x="10760075" y="3081782"/>
                  </a:cubicBezTo>
                  <a:lnTo>
                    <a:pt x="246507" y="3081782"/>
                  </a:lnTo>
                  <a:cubicBezTo>
                    <a:pt x="110363" y="3081909"/>
                    <a:pt x="0" y="2971546"/>
                    <a:pt x="0" y="2835275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807959" y="7064759"/>
            <a:ext cx="1031243" cy="1031243"/>
            <a:chOff x="0" y="0"/>
            <a:chExt cx="1374991" cy="13749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75029" cy="1375029"/>
            </a:xfrm>
            <a:custGeom>
              <a:avLst/>
              <a:gdLst/>
              <a:ahLst/>
              <a:cxnLst/>
              <a:rect r="r" b="b" t="t" l="l"/>
              <a:pathLst>
                <a:path h="1375029" w="1375029">
                  <a:moveTo>
                    <a:pt x="0" y="175006"/>
                  </a:moveTo>
                  <a:cubicBezTo>
                    <a:pt x="0" y="78359"/>
                    <a:pt x="78359" y="0"/>
                    <a:pt x="175006" y="0"/>
                  </a:cubicBezTo>
                  <a:lnTo>
                    <a:pt x="1200023" y="0"/>
                  </a:lnTo>
                  <a:cubicBezTo>
                    <a:pt x="1296670" y="0"/>
                    <a:pt x="1375029" y="78359"/>
                    <a:pt x="1375029" y="175006"/>
                  </a:cubicBezTo>
                  <a:lnTo>
                    <a:pt x="1375029" y="1200023"/>
                  </a:lnTo>
                  <a:cubicBezTo>
                    <a:pt x="1375029" y="1296670"/>
                    <a:pt x="1296670" y="1375029"/>
                    <a:pt x="1200023" y="1375029"/>
                  </a:cubicBezTo>
                  <a:lnTo>
                    <a:pt x="175006" y="1375029"/>
                  </a:lnTo>
                  <a:cubicBezTo>
                    <a:pt x="78359" y="1375029"/>
                    <a:pt x="0" y="1296670"/>
                    <a:pt x="0" y="1200023"/>
                  </a:cubicBezTo>
                  <a:close/>
                </a:path>
              </a:pathLst>
            </a:custGeom>
            <a:solidFill>
              <a:srgbClr val="FF6B6B">
                <a:alpha val="3922"/>
              </a:srgbClr>
            </a:solidFill>
            <a:ln w="254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820656" y="7077456"/>
            <a:ext cx="1005840" cy="1005840"/>
            <a:chOff x="0" y="0"/>
            <a:chExt cx="134112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027664" y="7040880"/>
            <a:ext cx="6583680" cy="512064"/>
            <a:chOff x="0" y="0"/>
            <a:chExt cx="877824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778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Cost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1027664" y="7514844"/>
            <a:ext cx="658368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Penalizes large ground-contact forces. Discourages unstable footfalls and promotes gentle, stable foot placement.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Proximal Policy Optimization (PPO)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8346443" cy="6883403"/>
            <a:chOff x="0" y="0"/>
            <a:chExt cx="11128591" cy="9177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28502" cy="9177783"/>
            </a:xfrm>
            <a:custGeom>
              <a:avLst/>
              <a:gdLst/>
              <a:ahLst/>
              <a:cxnLst/>
              <a:rect r="r" b="b" t="t" l="l"/>
              <a:pathLst>
                <a:path h="9177783" w="1112850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883773" y="0"/>
                  </a:lnTo>
                  <a:cubicBezTo>
                    <a:pt x="11018901" y="0"/>
                    <a:pt x="11128502" y="109601"/>
                    <a:pt x="11128502" y="244729"/>
                  </a:cubicBezTo>
                  <a:lnTo>
                    <a:pt x="11128502" y="8933053"/>
                  </a:lnTo>
                  <a:cubicBezTo>
                    <a:pt x="11128502" y="9068181"/>
                    <a:pt x="11018901" y="9177782"/>
                    <a:pt x="10883773" y="9177782"/>
                  </a:cubicBezTo>
                  <a:lnTo>
                    <a:pt x="244729" y="9177782"/>
                  </a:lnTo>
                  <a:cubicBezTo>
                    <a:pt x="109601" y="9177909"/>
                    <a:pt x="0" y="9068308"/>
                    <a:pt x="0" y="8933053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2852928"/>
            <a:ext cx="7772400" cy="585216"/>
            <a:chOff x="0" y="0"/>
            <a:chExt cx="1036320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63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785" r="0" b="-2087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363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PPO?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" y="3657600"/>
            <a:ext cx="7772400" cy="768096"/>
            <a:chOff x="0" y="0"/>
            <a:chExt cx="10363200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363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Clipped surrogate objective prevents destructive policy updates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" y="4572000"/>
            <a:ext cx="7772400" cy="768096"/>
            <a:chOff x="0" y="0"/>
            <a:chExt cx="10363200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363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Native support for continuous action spaces (torque control)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5486400"/>
            <a:ext cx="7772400" cy="768096"/>
            <a:chOff x="0" y="0"/>
            <a:chExt cx="10363200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363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 baseline on locomotion benchmarks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" y="6400800"/>
            <a:ext cx="7772400" cy="768096"/>
            <a:chOff x="0" y="0"/>
            <a:chExt cx="1036320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63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Balanced exploration vs. exploitation via entropy control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" y="7315200"/>
            <a:ext cx="7772400" cy="768096"/>
            <a:chOff x="0" y="0"/>
            <a:chExt cx="10363200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363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Compatible with parallelized VecEnv workers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8720" y="8229600"/>
            <a:ext cx="7772400" cy="768096"/>
            <a:chOff x="0" y="0"/>
            <a:chExt cx="1036320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363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Memory-efficient on CPU hardware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79943" y="2584199"/>
            <a:ext cx="7614923" cy="6883403"/>
            <a:chOff x="0" y="0"/>
            <a:chExt cx="10153231" cy="91778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53142" cy="9177783"/>
            </a:xfrm>
            <a:custGeom>
              <a:avLst/>
              <a:gdLst/>
              <a:ahLst/>
              <a:cxnLst/>
              <a:rect r="r" b="b" t="t" l="l"/>
              <a:pathLst>
                <a:path h="9177783" w="1015314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9908413" y="0"/>
                  </a:lnTo>
                  <a:cubicBezTo>
                    <a:pt x="10043541" y="0"/>
                    <a:pt x="10153142" y="109601"/>
                    <a:pt x="10153142" y="244729"/>
                  </a:cubicBezTo>
                  <a:lnTo>
                    <a:pt x="10153142" y="8933053"/>
                  </a:lnTo>
                  <a:cubicBezTo>
                    <a:pt x="10153142" y="9068181"/>
                    <a:pt x="10043541" y="9177782"/>
                    <a:pt x="9908413" y="9177782"/>
                  </a:cubicBezTo>
                  <a:lnTo>
                    <a:pt x="244729" y="9177782"/>
                  </a:lnTo>
                  <a:cubicBezTo>
                    <a:pt x="109601" y="9177909"/>
                    <a:pt x="0" y="9068308"/>
                    <a:pt x="0" y="8933053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966960" y="2852928"/>
            <a:ext cx="7040880" cy="585216"/>
            <a:chOff x="0" y="0"/>
            <a:chExt cx="938784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3878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Hyperparameters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62823" y="3644903"/>
            <a:ext cx="7249163" cy="720347"/>
            <a:chOff x="0" y="0"/>
            <a:chExt cx="9665551" cy="960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021824" y="3712464"/>
            <a:ext cx="4572000" cy="585216"/>
            <a:chOff x="0" y="0"/>
            <a:chExt cx="6096000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Rate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593824" y="3712464"/>
            <a:ext cx="2377440" cy="585216"/>
            <a:chOff x="0" y="0"/>
            <a:chExt cx="3169920" cy="780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1e-4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62823" y="4412999"/>
            <a:ext cx="7249163" cy="720347"/>
            <a:chOff x="0" y="0"/>
            <a:chExt cx="9665551" cy="960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A1C3E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021824" y="4480560"/>
            <a:ext cx="4572000" cy="585216"/>
            <a:chOff x="0" y="0"/>
            <a:chExt cx="6096000" cy="780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n_steps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593824" y="4480560"/>
            <a:ext cx="2377440" cy="585216"/>
            <a:chOff x="0" y="0"/>
            <a:chExt cx="316992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1024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62823" y="5181095"/>
            <a:ext cx="7249163" cy="720347"/>
            <a:chOff x="0" y="0"/>
            <a:chExt cx="9665551" cy="96046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021824" y="5248656"/>
            <a:ext cx="4572000" cy="585216"/>
            <a:chOff x="0" y="0"/>
            <a:chExt cx="609600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 Size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593824" y="5248656"/>
            <a:ext cx="2377440" cy="585216"/>
            <a:chOff x="0" y="0"/>
            <a:chExt cx="316992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256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62823" y="5949191"/>
            <a:ext cx="7249163" cy="720347"/>
            <a:chOff x="0" y="0"/>
            <a:chExt cx="9665551" cy="9604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A1C3E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021824" y="6016752"/>
            <a:ext cx="4572000" cy="585216"/>
            <a:chOff x="0" y="0"/>
            <a:chExt cx="609600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Epochs / Update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593824" y="6016752"/>
            <a:ext cx="2377440" cy="585216"/>
            <a:chOff x="0" y="0"/>
            <a:chExt cx="3169920" cy="7802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62823" y="6717287"/>
            <a:ext cx="7249163" cy="720347"/>
            <a:chOff x="0" y="0"/>
            <a:chExt cx="9665551" cy="96046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0021824" y="6784848"/>
            <a:ext cx="4572000" cy="585216"/>
            <a:chOff x="0" y="0"/>
            <a:chExt cx="6096000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Gamma (γ)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593824" y="6784848"/>
            <a:ext cx="2377440" cy="585216"/>
            <a:chOff x="0" y="0"/>
            <a:chExt cx="3169920" cy="7802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0.99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62823" y="7485383"/>
            <a:ext cx="7249163" cy="720347"/>
            <a:chOff x="0" y="0"/>
            <a:chExt cx="9665551" cy="96046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A1C3E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021824" y="7552944"/>
            <a:ext cx="4572000" cy="585216"/>
            <a:chOff x="0" y="0"/>
            <a:chExt cx="6096000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GAE Lambda (λ)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593824" y="7552944"/>
            <a:ext cx="2377440" cy="585216"/>
            <a:chOff x="0" y="0"/>
            <a:chExt cx="316992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862823" y="8253479"/>
            <a:ext cx="7249163" cy="720347"/>
            <a:chOff x="0" y="0"/>
            <a:chExt cx="9665551" cy="96046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0021824" y="8321040"/>
            <a:ext cx="4572000" cy="585216"/>
            <a:chOff x="0" y="0"/>
            <a:chExt cx="6096000" cy="7802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Clip Range (ε)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593824" y="8321040"/>
            <a:ext cx="2377440" cy="585216"/>
            <a:chOff x="0" y="0"/>
            <a:chExt cx="3169920" cy="7802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0.10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862823" y="9021575"/>
            <a:ext cx="7249163" cy="720347"/>
            <a:chOff x="0" y="0"/>
            <a:chExt cx="9665551" cy="96046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665589" cy="960501"/>
            </a:xfrm>
            <a:custGeom>
              <a:avLst/>
              <a:gdLst/>
              <a:ahLst/>
              <a:cxnLst/>
              <a:rect r="r" b="b" t="t" l="l"/>
              <a:pathLst>
                <a:path h="960501" w="9665589">
                  <a:moveTo>
                    <a:pt x="0" y="0"/>
                  </a:moveTo>
                  <a:lnTo>
                    <a:pt x="9665589" y="0"/>
                  </a:lnTo>
                  <a:lnTo>
                    <a:pt x="9665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A1C3E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0021824" y="9089136"/>
            <a:ext cx="4572000" cy="585216"/>
            <a:chOff x="0" y="0"/>
            <a:chExt cx="6096000" cy="78028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096000" cy="780288"/>
            </a:xfrm>
            <a:custGeom>
              <a:avLst/>
              <a:gdLst/>
              <a:ahLst/>
              <a:cxnLst/>
              <a:rect r="r" b="b" t="t" l="l"/>
              <a:pathLst>
                <a:path h="78028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096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 Norm Max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593824" y="9089136"/>
            <a:ext cx="2377440" cy="585216"/>
            <a:chOff x="0" y="0"/>
            <a:chExt cx="3169920" cy="78028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Parallelized Training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5420363" cy="3097787"/>
            <a:chOff x="0" y="0"/>
            <a:chExt cx="7227151" cy="41303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7189" cy="4130421"/>
            </a:xfrm>
            <a:custGeom>
              <a:avLst/>
              <a:gdLst/>
              <a:ahLst/>
              <a:cxnLst/>
              <a:rect r="r" b="b" t="t" l="l"/>
              <a:pathLst>
                <a:path h="4130421" w="722718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981317" y="0"/>
                  </a:lnTo>
                  <a:cubicBezTo>
                    <a:pt x="7117080" y="0"/>
                    <a:pt x="7227189" y="110109"/>
                    <a:pt x="7227189" y="245872"/>
                  </a:cubicBezTo>
                  <a:lnTo>
                    <a:pt x="7227189" y="3884549"/>
                  </a:lnTo>
                  <a:cubicBezTo>
                    <a:pt x="7227189" y="4020312"/>
                    <a:pt x="7117080" y="4130421"/>
                    <a:pt x="6981317" y="4130421"/>
                  </a:cubicBezTo>
                  <a:lnTo>
                    <a:pt x="245872" y="4130421"/>
                  </a:lnTo>
                  <a:cubicBezTo>
                    <a:pt x="110109" y="4130421"/>
                    <a:pt x="0" y="4020312"/>
                    <a:pt x="0" y="3884549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21159" y="2803655"/>
            <a:ext cx="903227" cy="903227"/>
            <a:chOff x="0" y="0"/>
            <a:chExt cx="1204303" cy="12043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4214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21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053719" y="0"/>
                  </a:lnTo>
                  <a:cubicBezTo>
                    <a:pt x="1136904" y="0"/>
                    <a:pt x="1204214" y="67437"/>
                    <a:pt x="1204214" y="150495"/>
                  </a:cubicBezTo>
                  <a:lnTo>
                    <a:pt x="1204214" y="1053719"/>
                  </a:lnTo>
                  <a:cubicBezTo>
                    <a:pt x="1204214" y="1136904"/>
                    <a:pt x="1136777" y="1204214"/>
                    <a:pt x="1053719" y="1204214"/>
                  </a:cubicBezTo>
                  <a:lnTo>
                    <a:pt x="150495" y="1204214"/>
                  </a:lnTo>
                  <a:cubicBezTo>
                    <a:pt x="67437" y="1204341"/>
                    <a:pt x="0" y="1136904"/>
                    <a:pt x="0" y="1053719"/>
                  </a:cubicBezTo>
                  <a:close/>
                </a:path>
              </a:pathLst>
            </a:custGeom>
            <a:solidFill>
              <a:srgbClr val="00C2CB">
                <a:alpha val="392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33856" y="2816352"/>
            <a:ext cx="877824" cy="877824"/>
            <a:chOff x="0" y="0"/>
            <a:chExt cx="1170432" cy="11704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94560" y="2816352"/>
            <a:ext cx="3931920" cy="822960"/>
            <a:chOff x="0" y="0"/>
            <a:chExt cx="52425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2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2425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Initialize VecEnv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3856" y="3875532"/>
            <a:ext cx="4974336" cy="164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Launch 12 parallel Humanoid-v4 workers using make_vec_env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98999" y="2584199"/>
            <a:ext cx="5420363" cy="3097787"/>
            <a:chOff x="0" y="0"/>
            <a:chExt cx="7227151" cy="41303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27189" cy="4130421"/>
            </a:xfrm>
            <a:custGeom>
              <a:avLst/>
              <a:gdLst/>
              <a:ahLst/>
              <a:cxnLst/>
              <a:rect r="r" b="b" t="t" l="l"/>
              <a:pathLst>
                <a:path h="4130421" w="722718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981317" y="0"/>
                  </a:lnTo>
                  <a:cubicBezTo>
                    <a:pt x="7117080" y="0"/>
                    <a:pt x="7227189" y="110109"/>
                    <a:pt x="7227189" y="245872"/>
                  </a:cubicBezTo>
                  <a:lnTo>
                    <a:pt x="7227189" y="3884549"/>
                  </a:lnTo>
                  <a:cubicBezTo>
                    <a:pt x="7227189" y="4020312"/>
                    <a:pt x="7117080" y="4130421"/>
                    <a:pt x="6981317" y="4130421"/>
                  </a:cubicBezTo>
                  <a:lnTo>
                    <a:pt x="245872" y="4130421"/>
                  </a:lnTo>
                  <a:cubicBezTo>
                    <a:pt x="110109" y="4130421"/>
                    <a:pt x="0" y="4020312"/>
                    <a:pt x="0" y="3884549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918455" y="2803655"/>
            <a:ext cx="903227" cy="903227"/>
            <a:chOff x="0" y="0"/>
            <a:chExt cx="1204303" cy="120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4214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21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053719" y="0"/>
                  </a:lnTo>
                  <a:cubicBezTo>
                    <a:pt x="1136904" y="0"/>
                    <a:pt x="1204214" y="67437"/>
                    <a:pt x="1204214" y="150495"/>
                  </a:cubicBezTo>
                  <a:lnTo>
                    <a:pt x="1204214" y="1053719"/>
                  </a:lnTo>
                  <a:cubicBezTo>
                    <a:pt x="1204214" y="1136904"/>
                    <a:pt x="1136777" y="1204214"/>
                    <a:pt x="1053719" y="1204214"/>
                  </a:cubicBezTo>
                  <a:lnTo>
                    <a:pt x="150495" y="1204214"/>
                  </a:lnTo>
                  <a:cubicBezTo>
                    <a:pt x="67437" y="1204341"/>
                    <a:pt x="0" y="1136904"/>
                    <a:pt x="0" y="1053719"/>
                  </a:cubicBezTo>
                  <a:close/>
                </a:path>
              </a:pathLst>
            </a:custGeom>
            <a:solidFill>
              <a:srgbClr val="00C2CB">
                <a:alpha val="392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931152" y="2816352"/>
            <a:ext cx="877824" cy="877824"/>
            <a:chOff x="0" y="0"/>
            <a:chExt cx="1170432" cy="1170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991856" y="2816352"/>
            <a:ext cx="3931920" cy="822960"/>
            <a:chOff x="0" y="0"/>
            <a:chExt cx="524256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42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2425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VecNormalize Wrapper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931152" y="3875532"/>
            <a:ext cx="4974336" cy="164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Wrap with observation &amp; reward normalization (clip_obs=10)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496295" y="2584199"/>
            <a:ext cx="5420363" cy="3097787"/>
            <a:chOff x="0" y="0"/>
            <a:chExt cx="7227151" cy="41303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27189" cy="4130421"/>
            </a:xfrm>
            <a:custGeom>
              <a:avLst/>
              <a:gdLst/>
              <a:ahLst/>
              <a:cxnLst/>
              <a:rect r="r" b="b" t="t" l="l"/>
              <a:pathLst>
                <a:path h="4130421" w="722718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981317" y="0"/>
                  </a:lnTo>
                  <a:cubicBezTo>
                    <a:pt x="7117080" y="0"/>
                    <a:pt x="7227189" y="110109"/>
                    <a:pt x="7227189" y="245872"/>
                  </a:cubicBezTo>
                  <a:lnTo>
                    <a:pt x="7227189" y="3884549"/>
                  </a:lnTo>
                  <a:cubicBezTo>
                    <a:pt x="7227189" y="4020312"/>
                    <a:pt x="7117080" y="4130421"/>
                    <a:pt x="6981317" y="4130421"/>
                  </a:cubicBezTo>
                  <a:lnTo>
                    <a:pt x="245872" y="4130421"/>
                  </a:lnTo>
                  <a:cubicBezTo>
                    <a:pt x="110109" y="4130421"/>
                    <a:pt x="0" y="4020312"/>
                    <a:pt x="0" y="3884549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715751" y="2803655"/>
            <a:ext cx="903227" cy="903227"/>
            <a:chOff x="0" y="0"/>
            <a:chExt cx="1204303" cy="12043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04214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21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053719" y="0"/>
                  </a:lnTo>
                  <a:cubicBezTo>
                    <a:pt x="1136904" y="0"/>
                    <a:pt x="1204214" y="67437"/>
                    <a:pt x="1204214" y="150495"/>
                  </a:cubicBezTo>
                  <a:lnTo>
                    <a:pt x="1204214" y="1053719"/>
                  </a:lnTo>
                  <a:cubicBezTo>
                    <a:pt x="1204214" y="1136904"/>
                    <a:pt x="1136777" y="1204214"/>
                    <a:pt x="1053719" y="1204214"/>
                  </a:cubicBezTo>
                  <a:lnTo>
                    <a:pt x="150495" y="1204214"/>
                  </a:lnTo>
                  <a:cubicBezTo>
                    <a:pt x="67437" y="1204341"/>
                    <a:pt x="0" y="1136904"/>
                    <a:pt x="0" y="1053719"/>
                  </a:cubicBezTo>
                  <a:close/>
                </a:path>
              </a:pathLst>
            </a:custGeom>
            <a:solidFill>
              <a:srgbClr val="F5C842">
                <a:alpha val="3922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728448" y="2816352"/>
            <a:ext cx="877824" cy="877824"/>
            <a:chOff x="0" y="0"/>
            <a:chExt cx="1170432" cy="11704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89152" y="2816352"/>
            <a:ext cx="3931920" cy="822960"/>
            <a:chOff x="0" y="0"/>
            <a:chExt cx="524256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42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2425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Rollout Collection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728448" y="3875532"/>
            <a:ext cx="4974336" cy="164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Each worker collects n_steps=1024 transitions per update cycle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01703" y="5967479"/>
            <a:ext cx="5420363" cy="3097787"/>
            <a:chOff x="0" y="0"/>
            <a:chExt cx="7227151" cy="41303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27189" cy="4130421"/>
            </a:xfrm>
            <a:custGeom>
              <a:avLst/>
              <a:gdLst/>
              <a:ahLst/>
              <a:cxnLst/>
              <a:rect r="r" b="b" t="t" l="l"/>
              <a:pathLst>
                <a:path h="4130421" w="722718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981317" y="0"/>
                  </a:lnTo>
                  <a:cubicBezTo>
                    <a:pt x="7117080" y="0"/>
                    <a:pt x="7227189" y="110109"/>
                    <a:pt x="7227189" y="245872"/>
                  </a:cubicBezTo>
                  <a:lnTo>
                    <a:pt x="7227189" y="3884549"/>
                  </a:lnTo>
                  <a:cubicBezTo>
                    <a:pt x="7227189" y="4020312"/>
                    <a:pt x="7117080" y="4130421"/>
                    <a:pt x="6981317" y="4130421"/>
                  </a:cubicBezTo>
                  <a:lnTo>
                    <a:pt x="245872" y="4130421"/>
                  </a:lnTo>
                  <a:cubicBezTo>
                    <a:pt x="110109" y="4130421"/>
                    <a:pt x="0" y="4020312"/>
                    <a:pt x="0" y="3884549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21159" y="6186935"/>
            <a:ext cx="903227" cy="903227"/>
            <a:chOff x="0" y="0"/>
            <a:chExt cx="1204303" cy="12043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04214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21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053719" y="0"/>
                  </a:lnTo>
                  <a:cubicBezTo>
                    <a:pt x="1136904" y="0"/>
                    <a:pt x="1204214" y="67437"/>
                    <a:pt x="1204214" y="150495"/>
                  </a:cubicBezTo>
                  <a:lnTo>
                    <a:pt x="1204214" y="1053719"/>
                  </a:lnTo>
                  <a:cubicBezTo>
                    <a:pt x="1204214" y="1136904"/>
                    <a:pt x="1136777" y="1204214"/>
                    <a:pt x="1053719" y="1204214"/>
                  </a:cubicBezTo>
                  <a:lnTo>
                    <a:pt x="150495" y="1204214"/>
                  </a:lnTo>
                  <a:cubicBezTo>
                    <a:pt x="67437" y="1204341"/>
                    <a:pt x="0" y="1136904"/>
                    <a:pt x="0" y="1053719"/>
                  </a:cubicBezTo>
                  <a:close/>
                </a:path>
              </a:pathLst>
            </a:custGeom>
            <a:solidFill>
              <a:srgbClr val="F5C842">
                <a:alpha val="3922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33856" y="6199632"/>
            <a:ext cx="877824" cy="877824"/>
            <a:chOff x="0" y="0"/>
            <a:chExt cx="1170432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94560" y="6199632"/>
            <a:ext cx="3931920" cy="822960"/>
            <a:chOff x="0" y="0"/>
            <a:chExt cx="524256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42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2425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GAE Advantage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33856" y="7258812"/>
            <a:ext cx="4974336" cy="164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Generalized Advantage Estimation (λ=0.95) over all workers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698999" y="5967479"/>
            <a:ext cx="5420363" cy="3097787"/>
            <a:chOff x="0" y="0"/>
            <a:chExt cx="7227151" cy="41303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7189" cy="4130421"/>
            </a:xfrm>
            <a:custGeom>
              <a:avLst/>
              <a:gdLst/>
              <a:ahLst/>
              <a:cxnLst/>
              <a:rect r="r" b="b" t="t" l="l"/>
              <a:pathLst>
                <a:path h="4130421" w="722718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981317" y="0"/>
                  </a:lnTo>
                  <a:cubicBezTo>
                    <a:pt x="7117080" y="0"/>
                    <a:pt x="7227189" y="110109"/>
                    <a:pt x="7227189" y="245872"/>
                  </a:cubicBezTo>
                  <a:lnTo>
                    <a:pt x="7227189" y="3884549"/>
                  </a:lnTo>
                  <a:cubicBezTo>
                    <a:pt x="7227189" y="4020312"/>
                    <a:pt x="7117080" y="4130421"/>
                    <a:pt x="6981317" y="4130421"/>
                  </a:cubicBezTo>
                  <a:lnTo>
                    <a:pt x="245872" y="4130421"/>
                  </a:lnTo>
                  <a:cubicBezTo>
                    <a:pt x="110109" y="4130421"/>
                    <a:pt x="0" y="4020312"/>
                    <a:pt x="0" y="3884549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918455" y="6186935"/>
            <a:ext cx="903227" cy="903227"/>
            <a:chOff x="0" y="0"/>
            <a:chExt cx="1204303" cy="12043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04214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21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053719" y="0"/>
                  </a:lnTo>
                  <a:cubicBezTo>
                    <a:pt x="1136904" y="0"/>
                    <a:pt x="1204214" y="67437"/>
                    <a:pt x="1204214" y="150495"/>
                  </a:cubicBezTo>
                  <a:lnTo>
                    <a:pt x="1204214" y="1053719"/>
                  </a:lnTo>
                  <a:cubicBezTo>
                    <a:pt x="1204214" y="1136904"/>
                    <a:pt x="1136777" y="1204214"/>
                    <a:pt x="1053719" y="1204214"/>
                  </a:cubicBezTo>
                  <a:lnTo>
                    <a:pt x="150495" y="1204214"/>
                  </a:lnTo>
                  <a:cubicBezTo>
                    <a:pt x="67437" y="1204341"/>
                    <a:pt x="0" y="1136904"/>
                    <a:pt x="0" y="1053719"/>
                  </a:cubicBezTo>
                  <a:close/>
                </a:path>
              </a:pathLst>
            </a:custGeom>
            <a:solidFill>
              <a:srgbClr val="22D3A5">
                <a:alpha val="3922"/>
              </a:srgbClr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931152" y="6199632"/>
            <a:ext cx="877824" cy="877824"/>
            <a:chOff x="0" y="0"/>
            <a:chExt cx="1170432" cy="11704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991856" y="6199632"/>
            <a:ext cx="3931920" cy="822960"/>
            <a:chOff x="0" y="0"/>
            <a:chExt cx="524256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42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2425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 Update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6931152" y="7258812"/>
            <a:ext cx="4974336" cy="164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10 epochs of mini-batch gradient updates with clipped objective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2496295" y="5967479"/>
            <a:ext cx="5420363" cy="3097787"/>
            <a:chOff x="0" y="0"/>
            <a:chExt cx="7227151" cy="413038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27189" cy="4130421"/>
            </a:xfrm>
            <a:custGeom>
              <a:avLst/>
              <a:gdLst/>
              <a:ahLst/>
              <a:cxnLst/>
              <a:rect r="r" b="b" t="t" l="l"/>
              <a:pathLst>
                <a:path h="4130421" w="722718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981317" y="0"/>
                  </a:lnTo>
                  <a:cubicBezTo>
                    <a:pt x="7117080" y="0"/>
                    <a:pt x="7227189" y="110109"/>
                    <a:pt x="7227189" y="245872"/>
                  </a:cubicBezTo>
                  <a:lnTo>
                    <a:pt x="7227189" y="3884549"/>
                  </a:lnTo>
                  <a:cubicBezTo>
                    <a:pt x="7227189" y="4020312"/>
                    <a:pt x="7117080" y="4130421"/>
                    <a:pt x="6981317" y="4130421"/>
                  </a:cubicBezTo>
                  <a:lnTo>
                    <a:pt x="245872" y="4130421"/>
                  </a:lnTo>
                  <a:cubicBezTo>
                    <a:pt x="110109" y="4130421"/>
                    <a:pt x="0" y="4020312"/>
                    <a:pt x="0" y="3884549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2715751" y="6186935"/>
            <a:ext cx="903227" cy="903227"/>
            <a:chOff x="0" y="0"/>
            <a:chExt cx="1204303" cy="12043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04214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21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053719" y="0"/>
                  </a:lnTo>
                  <a:cubicBezTo>
                    <a:pt x="1136904" y="0"/>
                    <a:pt x="1204214" y="67437"/>
                    <a:pt x="1204214" y="150495"/>
                  </a:cubicBezTo>
                  <a:lnTo>
                    <a:pt x="1204214" y="1053719"/>
                  </a:lnTo>
                  <a:cubicBezTo>
                    <a:pt x="1204214" y="1136904"/>
                    <a:pt x="1136777" y="1204214"/>
                    <a:pt x="1053719" y="1204214"/>
                  </a:cubicBezTo>
                  <a:lnTo>
                    <a:pt x="150495" y="1204214"/>
                  </a:lnTo>
                  <a:cubicBezTo>
                    <a:pt x="67437" y="1204341"/>
                    <a:pt x="0" y="1136904"/>
                    <a:pt x="0" y="1053719"/>
                  </a:cubicBezTo>
                  <a:close/>
                </a:path>
              </a:pathLst>
            </a:custGeom>
            <a:solidFill>
              <a:srgbClr val="22D3A5">
                <a:alpha val="3922"/>
              </a:srgbClr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728448" y="6199632"/>
            <a:ext cx="877824" cy="877824"/>
            <a:chOff x="0" y="0"/>
            <a:chExt cx="1170432" cy="11704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789152" y="6199632"/>
            <a:ext cx="3931920" cy="822960"/>
            <a:chOff x="0" y="0"/>
            <a:chExt cx="5242560" cy="1097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42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2425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Checkpoint &amp; Eval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728448" y="7258812"/>
            <a:ext cx="4974336" cy="164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Save weights + VecNormalize stats; evaluate policy performance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Agent.py — Training Script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0266683" cy="6883403"/>
            <a:chOff x="0" y="0"/>
            <a:chExt cx="13688911" cy="9177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88822" cy="9177783"/>
            </a:xfrm>
            <a:custGeom>
              <a:avLst/>
              <a:gdLst/>
              <a:ahLst/>
              <a:cxnLst/>
              <a:rect r="r" b="b" t="t" l="l"/>
              <a:pathLst>
                <a:path h="9177783" w="1368882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3444093" y="0"/>
                  </a:lnTo>
                  <a:cubicBezTo>
                    <a:pt x="13579221" y="0"/>
                    <a:pt x="13688822" y="109601"/>
                    <a:pt x="13688822" y="244729"/>
                  </a:cubicBezTo>
                  <a:lnTo>
                    <a:pt x="13688822" y="8933053"/>
                  </a:lnTo>
                  <a:cubicBezTo>
                    <a:pt x="13688822" y="9068181"/>
                    <a:pt x="13579221" y="9177782"/>
                    <a:pt x="13444093" y="9177782"/>
                  </a:cubicBezTo>
                  <a:lnTo>
                    <a:pt x="244729" y="9177782"/>
                  </a:lnTo>
                  <a:cubicBezTo>
                    <a:pt x="109601" y="9177909"/>
                    <a:pt x="0" y="9068308"/>
                    <a:pt x="0" y="8933053"/>
                  </a:cubicBezTo>
                  <a:close/>
                </a:path>
              </a:pathLst>
            </a:custGeom>
            <a:solidFill>
              <a:srgbClr val="050E1A"/>
            </a:solidFill>
            <a:ln w="25400" cap="sq">
              <a:solidFill>
                <a:srgbClr val="007B8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4039" y="2840231"/>
            <a:ext cx="299723" cy="299723"/>
            <a:chOff x="0" y="0"/>
            <a:chExt cx="399631" cy="3996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FF5F57"/>
            </a:solidFill>
            <a:ln w="25400" cap="sq">
              <a:solidFill>
                <a:srgbClr val="FF5F5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816103" y="2840231"/>
            <a:ext cx="299723" cy="299723"/>
            <a:chOff x="0" y="0"/>
            <a:chExt cx="399631" cy="399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FEBC2E"/>
            </a:solidFill>
            <a:ln w="25400" cap="sq">
              <a:solidFill>
                <a:srgbClr val="FEBC2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328167" y="2840231"/>
            <a:ext cx="299723" cy="299723"/>
            <a:chOff x="0" y="0"/>
            <a:chExt cx="399631" cy="3996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28C840"/>
            </a:solidFill>
            <a:ln w="25400" cap="sq">
              <a:solidFill>
                <a:srgbClr val="28C84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743200" y="2779776"/>
            <a:ext cx="5486400" cy="402336"/>
            <a:chOff x="0" y="0"/>
            <a:chExt cx="73152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315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Agent.py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3438144"/>
            <a:ext cx="9692640" cy="329184"/>
            <a:chOff x="0" y="0"/>
            <a:chExt cx="1292352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Initialize 12 parallel environments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" y="3749040"/>
            <a:ext cx="9692640" cy="329184"/>
            <a:chOff x="0" y="0"/>
            <a:chExt cx="12923520" cy="438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vectorized_system = make_vec_env(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" y="4059936"/>
            <a:ext cx="9692640" cy="329184"/>
            <a:chOff x="0" y="0"/>
            <a:chExt cx="1292352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C2C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"Humanoid-v4", n_envs=12)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8720" y="4681728"/>
            <a:ext cx="9692640" cy="329184"/>
            <a:chOff x="0" y="0"/>
            <a:chExt cx="12923520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Wrap with normalization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8720" y="4992624"/>
            <a:ext cx="9692640" cy="329184"/>
            <a:chOff x="0" y="0"/>
            <a:chExt cx="1292352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normalized_env = VecNormalize(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" y="5303520"/>
            <a:ext cx="9692640" cy="329184"/>
            <a:chOff x="0" y="0"/>
            <a:chExt cx="12923520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C2C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vectorized_system, norm_obs=True,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8720" y="5614416"/>
            <a:ext cx="9692640" cy="329184"/>
            <a:chOff x="0" y="0"/>
            <a:chExt cx="12923520" cy="4389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C2C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norm_reward=True, clip_obs=10.0)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720" y="6236208"/>
            <a:ext cx="9692640" cy="329184"/>
            <a:chOff x="0" y="0"/>
            <a:chExt cx="12923520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Build PPO agent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" y="6547104"/>
            <a:ext cx="9692640" cy="329184"/>
            <a:chOff x="0" y="0"/>
            <a:chExt cx="12923520" cy="4389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agent_model = PPO(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8720" y="6858000"/>
            <a:ext cx="9692640" cy="329184"/>
            <a:chOff x="0" y="0"/>
            <a:chExt cx="12923520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C8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policy="MlpPolicy",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" y="7168896"/>
            <a:ext cx="9692640" cy="329184"/>
            <a:chOff x="0" y="0"/>
            <a:chExt cx="1292352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C8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env=normalized_env,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8720" y="7479792"/>
            <a:ext cx="9692640" cy="329184"/>
            <a:chOff x="0" y="0"/>
            <a:chExt cx="12923520" cy="4389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C8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learning_rate=1e-4,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720" y="7790688"/>
            <a:ext cx="9692640" cy="329184"/>
            <a:chOff x="0" y="0"/>
            <a:chExt cx="12923520" cy="4389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C8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n_steps=1024, batch_size=256)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88720" y="8412480"/>
            <a:ext cx="9692640" cy="329184"/>
            <a:chOff x="0" y="0"/>
            <a:chExt cx="1292352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Train for 15M timesteps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88720" y="8723376"/>
            <a:ext cx="9692640" cy="329184"/>
            <a:chOff x="0" y="0"/>
            <a:chExt cx="12923520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agent_model.learn(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88720" y="9034272"/>
            <a:ext cx="9692640" cy="329184"/>
            <a:chOff x="0" y="0"/>
            <a:chExt cx="12923520" cy="4389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22D3A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total_timesteps=15_000_000)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508743" y="2584199"/>
            <a:ext cx="5786123" cy="6883403"/>
            <a:chOff x="0" y="0"/>
            <a:chExt cx="7714831" cy="91778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714869" cy="9177909"/>
            </a:xfrm>
            <a:custGeom>
              <a:avLst/>
              <a:gdLst/>
              <a:ahLst/>
              <a:cxnLst/>
              <a:rect r="r" b="b" t="t" l="l"/>
              <a:pathLst>
                <a:path h="9177909" w="7714869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469886" y="0"/>
                  </a:lnTo>
                  <a:cubicBezTo>
                    <a:pt x="7605141" y="0"/>
                    <a:pt x="7714869" y="109728"/>
                    <a:pt x="7714869" y="244983"/>
                  </a:cubicBezTo>
                  <a:lnTo>
                    <a:pt x="7714869" y="8932926"/>
                  </a:lnTo>
                  <a:cubicBezTo>
                    <a:pt x="7714869" y="9068181"/>
                    <a:pt x="7605141" y="9177909"/>
                    <a:pt x="7469886" y="9177909"/>
                  </a:cubicBezTo>
                  <a:lnTo>
                    <a:pt x="244983" y="9177909"/>
                  </a:lnTo>
                  <a:cubicBezTo>
                    <a:pt x="109728" y="9177909"/>
                    <a:pt x="0" y="9068181"/>
                    <a:pt x="0" y="8932926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1795760" y="2852928"/>
            <a:ext cx="5212080" cy="548640"/>
            <a:chOff x="0" y="0"/>
            <a:chExt cx="69494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6949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Decisions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728199" y="3644903"/>
            <a:ext cx="5328923" cy="1397003"/>
            <a:chOff x="0" y="0"/>
            <a:chExt cx="7105231" cy="18626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105269" cy="1862709"/>
            </a:xfrm>
            <a:custGeom>
              <a:avLst/>
              <a:gdLst/>
              <a:ahLst/>
              <a:cxnLst/>
              <a:rect r="r" b="b" t="t" l="l"/>
              <a:pathLst>
                <a:path h="1862709" w="7105269">
                  <a:moveTo>
                    <a:pt x="0" y="173863"/>
                  </a:moveTo>
                  <a:cubicBezTo>
                    <a:pt x="0" y="77851"/>
                    <a:pt x="77851" y="0"/>
                    <a:pt x="173863" y="0"/>
                  </a:cubicBezTo>
                  <a:lnTo>
                    <a:pt x="6931406" y="0"/>
                  </a:lnTo>
                  <a:cubicBezTo>
                    <a:pt x="7027418" y="0"/>
                    <a:pt x="7105269" y="77851"/>
                    <a:pt x="7105269" y="173863"/>
                  </a:cubicBezTo>
                  <a:lnTo>
                    <a:pt x="7105269" y="1688846"/>
                  </a:lnTo>
                  <a:cubicBezTo>
                    <a:pt x="7105269" y="1784858"/>
                    <a:pt x="7027418" y="1862709"/>
                    <a:pt x="6931406" y="1862709"/>
                  </a:cubicBezTo>
                  <a:lnTo>
                    <a:pt x="173863" y="1862709"/>
                  </a:lnTo>
                  <a:cubicBezTo>
                    <a:pt x="77851" y="1862709"/>
                    <a:pt x="0" y="1784858"/>
                    <a:pt x="0" y="1688846"/>
                  </a:cubicBez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1978640" y="3749040"/>
            <a:ext cx="4846320" cy="457200"/>
            <a:chOff x="0" y="0"/>
            <a:chExt cx="646176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461760" cy="609600"/>
            </a:xfrm>
            <a:custGeom>
              <a:avLst/>
              <a:gdLst/>
              <a:ahLst/>
              <a:cxnLst/>
              <a:rect r="r" b="b" t="t" l="l"/>
              <a:pathLst>
                <a:path h="6096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6461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VecNormalize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978640" y="4206240"/>
            <a:ext cx="4846320" cy="694944"/>
            <a:chOff x="0" y="0"/>
            <a:chExt cx="646176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61760" cy="926592"/>
            </a:xfrm>
            <a:custGeom>
              <a:avLst/>
              <a:gdLst/>
              <a:ahLst/>
              <a:cxnLst/>
              <a:rect r="r" b="b" t="t" l="l"/>
              <a:pathLst>
                <a:path h="9265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82" r="0" b="-858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461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Stabilizes gradient flow; clip_obs=10 prevents outlier obs from dominating.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728199" y="5199383"/>
            <a:ext cx="5328923" cy="1397003"/>
            <a:chOff x="0" y="0"/>
            <a:chExt cx="7105231" cy="18626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105269" cy="1862709"/>
            </a:xfrm>
            <a:custGeom>
              <a:avLst/>
              <a:gdLst/>
              <a:ahLst/>
              <a:cxnLst/>
              <a:rect r="r" b="b" t="t" l="l"/>
              <a:pathLst>
                <a:path h="1862709" w="7105269">
                  <a:moveTo>
                    <a:pt x="0" y="173863"/>
                  </a:moveTo>
                  <a:cubicBezTo>
                    <a:pt x="0" y="77851"/>
                    <a:pt x="77851" y="0"/>
                    <a:pt x="173863" y="0"/>
                  </a:cubicBezTo>
                  <a:lnTo>
                    <a:pt x="6931406" y="0"/>
                  </a:lnTo>
                  <a:cubicBezTo>
                    <a:pt x="7027418" y="0"/>
                    <a:pt x="7105269" y="77851"/>
                    <a:pt x="7105269" y="173863"/>
                  </a:cubicBezTo>
                  <a:lnTo>
                    <a:pt x="7105269" y="1688846"/>
                  </a:lnTo>
                  <a:cubicBezTo>
                    <a:pt x="7105269" y="1784858"/>
                    <a:pt x="7027418" y="1862709"/>
                    <a:pt x="6931406" y="1862709"/>
                  </a:cubicBezTo>
                  <a:lnTo>
                    <a:pt x="173863" y="1862709"/>
                  </a:lnTo>
                  <a:cubicBezTo>
                    <a:pt x="77851" y="1862709"/>
                    <a:pt x="0" y="1784858"/>
                    <a:pt x="0" y="1688846"/>
                  </a:cubicBez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978640" y="5303520"/>
            <a:ext cx="4846320" cy="457200"/>
            <a:chOff x="0" y="0"/>
            <a:chExt cx="6461760" cy="609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461760" cy="609600"/>
            </a:xfrm>
            <a:custGeom>
              <a:avLst/>
              <a:gdLst/>
              <a:ahLst/>
              <a:cxnLst/>
              <a:rect r="r" b="b" t="t" l="l"/>
              <a:pathLst>
                <a:path h="6096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461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MlpPolicy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978640" y="5760720"/>
            <a:ext cx="4846320" cy="694944"/>
            <a:chOff x="0" y="0"/>
            <a:chExt cx="6461760" cy="9265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461760" cy="926592"/>
            </a:xfrm>
            <a:custGeom>
              <a:avLst/>
              <a:gdLst/>
              <a:ahLst/>
              <a:cxnLst/>
              <a:rect r="r" b="b" t="t" l="l"/>
              <a:pathLst>
                <a:path h="9265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82" r="0" b="-8588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461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connected layers handle high-dimensional obs without spatial assumptions.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728199" y="6753863"/>
            <a:ext cx="5328923" cy="1397003"/>
            <a:chOff x="0" y="0"/>
            <a:chExt cx="7105231" cy="186267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105269" cy="1862709"/>
            </a:xfrm>
            <a:custGeom>
              <a:avLst/>
              <a:gdLst/>
              <a:ahLst/>
              <a:cxnLst/>
              <a:rect r="r" b="b" t="t" l="l"/>
              <a:pathLst>
                <a:path h="1862709" w="7105269">
                  <a:moveTo>
                    <a:pt x="0" y="173863"/>
                  </a:moveTo>
                  <a:cubicBezTo>
                    <a:pt x="0" y="77851"/>
                    <a:pt x="77851" y="0"/>
                    <a:pt x="173863" y="0"/>
                  </a:cubicBezTo>
                  <a:lnTo>
                    <a:pt x="6931406" y="0"/>
                  </a:lnTo>
                  <a:cubicBezTo>
                    <a:pt x="7027418" y="0"/>
                    <a:pt x="7105269" y="77851"/>
                    <a:pt x="7105269" y="173863"/>
                  </a:cubicBezTo>
                  <a:lnTo>
                    <a:pt x="7105269" y="1688846"/>
                  </a:lnTo>
                  <a:cubicBezTo>
                    <a:pt x="7105269" y="1784858"/>
                    <a:pt x="7027418" y="1862709"/>
                    <a:pt x="6931406" y="1862709"/>
                  </a:cubicBezTo>
                  <a:lnTo>
                    <a:pt x="173863" y="1862709"/>
                  </a:lnTo>
                  <a:cubicBezTo>
                    <a:pt x="77851" y="1862709"/>
                    <a:pt x="0" y="1784858"/>
                    <a:pt x="0" y="1688846"/>
                  </a:cubicBez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978640" y="6858000"/>
            <a:ext cx="4846320" cy="457200"/>
            <a:chOff x="0" y="0"/>
            <a:chExt cx="6461760" cy="609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461760" cy="609600"/>
            </a:xfrm>
            <a:custGeom>
              <a:avLst/>
              <a:gdLst/>
              <a:ahLst/>
              <a:cxnLst/>
              <a:rect r="r" b="b" t="t" l="l"/>
              <a:pathLst>
                <a:path h="6096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6461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CPU Device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978640" y="7315200"/>
            <a:ext cx="4846320" cy="694944"/>
            <a:chOff x="0" y="0"/>
            <a:chExt cx="646176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61760" cy="926592"/>
            </a:xfrm>
            <a:custGeom>
              <a:avLst/>
              <a:gdLst/>
              <a:ahLst/>
              <a:cxnLst/>
              <a:rect r="r" b="b" t="t" l="l"/>
              <a:pathLst>
                <a:path h="9265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82" r="0" b="-8588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461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MuJoCo simulation is CPU-bound; PPO on CPU avoids GPU transfer overhead.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728199" y="8308343"/>
            <a:ext cx="5328923" cy="1397003"/>
            <a:chOff x="0" y="0"/>
            <a:chExt cx="7105231" cy="186267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105269" cy="1862709"/>
            </a:xfrm>
            <a:custGeom>
              <a:avLst/>
              <a:gdLst/>
              <a:ahLst/>
              <a:cxnLst/>
              <a:rect r="r" b="b" t="t" l="l"/>
              <a:pathLst>
                <a:path h="1862709" w="7105269">
                  <a:moveTo>
                    <a:pt x="0" y="173863"/>
                  </a:moveTo>
                  <a:cubicBezTo>
                    <a:pt x="0" y="77851"/>
                    <a:pt x="77851" y="0"/>
                    <a:pt x="173863" y="0"/>
                  </a:cubicBezTo>
                  <a:lnTo>
                    <a:pt x="6931406" y="0"/>
                  </a:lnTo>
                  <a:cubicBezTo>
                    <a:pt x="7027418" y="0"/>
                    <a:pt x="7105269" y="77851"/>
                    <a:pt x="7105269" y="173863"/>
                  </a:cubicBezTo>
                  <a:lnTo>
                    <a:pt x="7105269" y="1688846"/>
                  </a:lnTo>
                  <a:cubicBezTo>
                    <a:pt x="7105269" y="1784858"/>
                    <a:pt x="7027418" y="1862709"/>
                    <a:pt x="6931406" y="1862709"/>
                  </a:cubicBezTo>
                  <a:lnTo>
                    <a:pt x="173863" y="1862709"/>
                  </a:lnTo>
                  <a:cubicBezTo>
                    <a:pt x="77851" y="1862709"/>
                    <a:pt x="0" y="1784858"/>
                    <a:pt x="0" y="1688846"/>
                  </a:cubicBezTo>
                  <a:close/>
                </a:path>
              </a:pathLst>
            </a:custGeom>
            <a:solidFill>
              <a:srgbClr val="0A1C3E"/>
            </a:solidFill>
            <a:ln w="25400" cap="sq">
              <a:solidFill>
                <a:srgbClr val="FF9F4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978640" y="8412480"/>
            <a:ext cx="4846320" cy="457200"/>
            <a:chOff x="0" y="0"/>
            <a:chExt cx="6461760" cy="609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461760" cy="609600"/>
            </a:xfrm>
            <a:custGeom>
              <a:avLst/>
              <a:gdLst/>
              <a:ahLst/>
              <a:cxnLst/>
              <a:rect r="r" b="b" t="t" l="l"/>
              <a:pathLst>
                <a:path h="6096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6461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9F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Checkpointing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978640" y="8869680"/>
            <a:ext cx="4846320" cy="694944"/>
            <a:chOff x="0" y="0"/>
            <a:chExt cx="6461760" cy="9265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461760" cy="926592"/>
            </a:xfrm>
            <a:custGeom>
              <a:avLst/>
              <a:gdLst/>
              <a:ahLst/>
              <a:cxnLst/>
              <a:rect r="r" b="b" t="t" l="l"/>
              <a:pathLst>
                <a:path h="9265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82" r="0" b="-8588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6461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Saves both weights and env stats (pkl) for faithful policy reconstruction.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visual.py — Evaluation &amp; Video Recording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0266683" cy="6883403"/>
            <a:chOff x="0" y="0"/>
            <a:chExt cx="13688911" cy="9177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88822" cy="9177783"/>
            </a:xfrm>
            <a:custGeom>
              <a:avLst/>
              <a:gdLst/>
              <a:ahLst/>
              <a:cxnLst/>
              <a:rect r="r" b="b" t="t" l="l"/>
              <a:pathLst>
                <a:path h="9177783" w="1368882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3444093" y="0"/>
                  </a:lnTo>
                  <a:cubicBezTo>
                    <a:pt x="13579221" y="0"/>
                    <a:pt x="13688822" y="109601"/>
                    <a:pt x="13688822" y="244729"/>
                  </a:cubicBezTo>
                  <a:lnTo>
                    <a:pt x="13688822" y="8933053"/>
                  </a:lnTo>
                  <a:cubicBezTo>
                    <a:pt x="13688822" y="9068181"/>
                    <a:pt x="13579221" y="9177782"/>
                    <a:pt x="13444093" y="9177782"/>
                  </a:cubicBezTo>
                  <a:lnTo>
                    <a:pt x="244729" y="9177782"/>
                  </a:lnTo>
                  <a:cubicBezTo>
                    <a:pt x="109601" y="9177909"/>
                    <a:pt x="0" y="9068308"/>
                    <a:pt x="0" y="8933053"/>
                  </a:cubicBezTo>
                  <a:close/>
                </a:path>
              </a:pathLst>
            </a:custGeom>
            <a:solidFill>
              <a:srgbClr val="050E1A"/>
            </a:solidFill>
            <a:ln w="25400" cap="sq">
              <a:solidFill>
                <a:srgbClr val="007B8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4039" y="2840231"/>
            <a:ext cx="299723" cy="299723"/>
            <a:chOff x="0" y="0"/>
            <a:chExt cx="399631" cy="3996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FF5F57"/>
            </a:solidFill>
            <a:ln w="25400" cap="sq">
              <a:solidFill>
                <a:srgbClr val="FF5F5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816103" y="2840231"/>
            <a:ext cx="299723" cy="299723"/>
            <a:chOff x="0" y="0"/>
            <a:chExt cx="399631" cy="399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FEBC2E"/>
            </a:solidFill>
            <a:ln w="25400" cap="sq">
              <a:solidFill>
                <a:srgbClr val="FEBC2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328167" y="2840231"/>
            <a:ext cx="299723" cy="299723"/>
            <a:chOff x="0" y="0"/>
            <a:chExt cx="399631" cy="3996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28C840"/>
            </a:solidFill>
            <a:ln w="25400" cap="sq">
              <a:solidFill>
                <a:srgbClr val="28C84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743200" y="2779776"/>
            <a:ext cx="5486400" cy="402336"/>
            <a:chOff x="0" y="0"/>
            <a:chExt cx="73152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315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visual.py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3438144"/>
            <a:ext cx="9692640" cy="329184"/>
            <a:chOff x="0" y="0"/>
            <a:chExt cx="1292352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Load saved normalization stats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" y="3749040"/>
            <a:ext cx="9692640" cy="329184"/>
            <a:chOff x="0" y="0"/>
            <a:chExt cx="12923520" cy="438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normalized_env = VecNormalize.load(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" y="4059936"/>
            <a:ext cx="9692640" cy="329184"/>
            <a:chOff x="0" y="0"/>
            <a:chExt cx="1292352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C2C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"saved_weights/env_stats.pkl",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8720" y="4370832"/>
            <a:ext cx="9692640" cy="329184"/>
            <a:chOff x="0" y="0"/>
            <a:chExt cx="12923520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C2C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vectorized_env)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8720" y="4681728"/>
            <a:ext cx="9692640" cy="329184"/>
            <a:chOff x="0" y="0"/>
            <a:chExt cx="1292352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normalized_env.training = False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" y="4992624"/>
            <a:ext cx="9692640" cy="329184"/>
            <a:chOff x="0" y="0"/>
            <a:chExt cx="12923520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normalized_env.norm_reward = False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8720" y="5614416"/>
            <a:ext cx="9692640" cy="329184"/>
            <a:chOff x="0" y="0"/>
            <a:chExt cx="12923520" cy="4389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Load trained model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720" y="5925312"/>
            <a:ext cx="9692640" cy="329184"/>
            <a:chOff x="0" y="0"/>
            <a:chExt cx="12923520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model = PPO.load(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" y="6236208"/>
            <a:ext cx="9692640" cy="329184"/>
            <a:chOff x="0" y="0"/>
            <a:chExt cx="12923520" cy="4389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C8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"saved_weights/humanoid_policy.zip",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8720" y="6547104"/>
            <a:ext cx="9692640" cy="329184"/>
            <a:chOff x="0" y="0"/>
            <a:chExt cx="12923520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5C8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env=normalized_env)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" y="7168896"/>
            <a:ext cx="9692640" cy="329184"/>
            <a:chOff x="0" y="0"/>
            <a:chExt cx="1292352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Simulate and capture frames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8720" y="7479792"/>
            <a:ext cx="9692640" cy="329184"/>
            <a:chOff x="0" y="0"/>
            <a:chExt cx="12923520" cy="4389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step in range(1500):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720" y="7790688"/>
            <a:ext cx="9692640" cy="329184"/>
            <a:chOff x="0" y="0"/>
            <a:chExt cx="12923520" cy="4389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action, _ = model.predict(obs,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88720" y="8101584"/>
            <a:ext cx="9692640" cy="329184"/>
            <a:chOff x="0" y="0"/>
            <a:chExt cx="1292352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C2C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deterministic=True)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88720" y="8412480"/>
            <a:ext cx="9692640" cy="329184"/>
            <a:chOff x="0" y="0"/>
            <a:chExt cx="12923520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EDF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frame = base_env.render()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88720" y="9034272"/>
            <a:ext cx="9692640" cy="329184"/>
            <a:chOff x="0" y="0"/>
            <a:chExt cx="12923520" cy="4389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29235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22D3A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imageio.mimsave(video_path, frames, fps=30)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508743" y="2584199"/>
            <a:ext cx="5786123" cy="6883403"/>
            <a:chOff x="0" y="0"/>
            <a:chExt cx="7714831" cy="91778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714869" cy="9177909"/>
            </a:xfrm>
            <a:custGeom>
              <a:avLst/>
              <a:gdLst/>
              <a:ahLst/>
              <a:cxnLst/>
              <a:rect r="r" b="b" t="t" l="l"/>
              <a:pathLst>
                <a:path h="9177909" w="7714869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469886" y="0"/>
                  </a:lnTo>
                  <a:cubicBezTo>
                    <a:pt x="7605141" y="0"/>
                    <a:pt x="7714869" y="109728"/>
                    <a:pt x="7714869" y="244983"/>
                  </a:cubicBezTo>
                  <a:lnTo>
                    <a:pt x="7714869" y="8932926"/>
                  </a:lnTo>
                  <a:cubicBezTo>
                    <a:pt x="7714869" y="9068181"/>
                    <a:pt x="7605141" y="9177909"/>
                    <a:pt x="7469886" y="9177909"/>
                  </a:cubicBezTo>
                  <a:lnTo>
                    <a:pt x="244983" y="9177909"/>
                  </a:lnTo>
                  <a:cubicBezTo>
                    <a:pt x="109728" y="9177909"/>
                    <a:pt x="0" y="9068181"/>
                    <a:pt x="0" y="8932926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1795760" y="2852928"/>
            <a:ext cx="5212080" cy="548640"/>
            <a:chOff x="0" y="0"/>
            <a:chExt cx="69494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6949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Pipeline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783063" y="3827783"/>
            <a:ext cx="665483" cy="665483"/>
            <a:chOff x="0" y="0"/>
            <a:chExt cx="887311" cy="8873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C2CB">
                <a:alpha val="588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1795760" y="3840480"/>
            <a:ext cx="640080" cy="640080"/>
            <a:chOff x="0" y="0"/>
            <a:chExt cx="853440" cy="853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618720" y="3749040"/>
            <a:ext cx="4480560" cy="1133856"/>
            <a:chOff x="0" y="0"/>
            <a:chExt cx="5974080" cy="15118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59740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env normalization stats (training=False)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783063" y="5144519"/>
            <a:ext cx="665483" cy="665483"/>
            <a:chOff x="0" y="0"/>
            <a:chExt cx="887311" cy="8873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F5C842">
                <a:alpha val="5882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795760" y="5157216"/>
            <a:ext cx="640080" cy="640080"/>
            <a:chOff x="0" y="0"/>
            <a:chExt cx="85344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618720" y="5065776"/>
            <a:ext cx="4480560" cy="1133856"/>
            <a:chOff x="0" y="0"/>
            <a:chExt cx="5974080" cy="151180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9740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saved PPO model weights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783063" y="6461255"/>
            <a:ext cx="665483" cy="665483"/>
            <a:chOff x="0" y="0"/>
            <a:chExt cx="887311" cy="8873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22D3A5">
                <a:alpha val="5882"/>
              </a:srgbClr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795760" y="6473952"/>
            <a:ext cx="640080" cy="640080"/>
            <a:chOff x="0" y="0"/>
            <a:chExt cx="853440" cy="8534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18720" y="6382512"/>
            <a:ext cx="4480560" cy="1133856"/>
            <a:chOff x="0" y="0"/>
            <a:chExt cx="5974080" cy="151180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9740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deterministic policy for 1500 steps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783063" y="7777991"/>
            <a:ext cx="665483" cy="665483"/>
            <a:chOff x="0" y="0"/>
            <a:chExt cx="887311" cy="8873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C2CB">
                <a:alpha val="588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795760" y="7790688"/>
            <a:ext cx="640080" cy="640080"/>
            <a:chOff x="0" y="0"/>
            <a:chExt cx="853440" cy="853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618720" y="7699248"/>
            <a:ext cx="4480560" cy="1133856"/>
            <a:chOff x="0" y="0"/>
            <a:chExt cx="5974080" cy="151180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59740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 rgb_array frames each step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783063" y="9094727"/>
            <a:ext cx="665483" cy="665483"/>
            <a:chOff x="0" y="0"/>
            <a:chExt cx="887311" cy="88731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F5C842">
                <a:alpha val="5882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795760" y="9107424"/>
            <a:ext cx="640080" cy="640080"/>
            <a:chOff x="0" y="0"/>
            <a:chExt cx="853440" cy="8534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618720" y="9015984"/>
            <a:ext cx="4480560" cy="1133856"/>
            <a:chOff x="0" y="0"/>
            <a:chExt cx="5974080" cy="151180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9740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Compile frames → MP4 at 30 FPS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Agent Learned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5420363" cy="2037083"/>
            <a:chOff x="0" y="0"/>
            <a:chExt cx="7227151" cy="2716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7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7227062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980174" y="0"/>
                  </a:lnTo>
                  <a:cubicBezTo>
                    <a:pt x="7116572" y="0"/>
                    <a:pt x="7227062" y="110490"/>
                    <a:pt x="7227062" y="246888"/>
                  </a:cubicBezTo>
                  <a:lnTo>
                    <a:pt x="7227062" y="2469134"/>
                  </a:lnTo>
                  <a:cubicBezTo>
                    <a:pt x="7227062" y="2605532"/>
                    <a:pt x="7116572" y="2716022"/>
                    <a:pt x="6980174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651760"/>
            <a:ext cx="5394960" cy="1188720"/>
            <a:chOff x="0" y="0"/>
            <a:chExt cx="719328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2" r="0" b="-3843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719328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840480"/>
            <a:ext cx="5394960" cy="548640"/>
            <a:chOff x="0" y="0"/>
            <a:chExt cx="71932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9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9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Timesteps Trained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98999" y="2584199"/>
            <a:ext cx="5420363" cy="2037083"/>
            <a:chOff x="0" y="0"/>
            <a:chExt cx="7227151" cy="2716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7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7227062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980174" y="0"/>
                  </a:lnTo>
                  <a:cubicBezTo>
                    <a:pt x="7116572" y="0"/>
                    <a:pt x="7227062" y="110490"/>
                    <a:pt x="7227062" y="246888"/>
                  </a:cubicBezTo>
                  <a:lnTo>
                    <a:pt x="7227062" y="2469134"/>
                  </a:lnTo>
                  <a:cubicBezTo>
                    <a:pt x="7227062" y="2605532"/>
                    <a:pt x="7116572" y="2716022"/>
                    <a:pt x="6980174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11696" y="2651760"/>
            <a:ext cx="5394960" cy="1188720"/>
            <a:chOff x="0" y="0"/>
            <a:chExt cx="7193280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2" r="0" b="-3843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52400"/>
              <a:ext cx="719328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12×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11696" y="3840480"/>
            <a:ext cx="5394960" cy="548640"/>
            <a:chOff x="0" y="0"/>
            <a:chExt cx="719328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9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19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Workers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96295" y="2584199"/>
            <a:ext cx="5420363" cy="2037083"/>
            <a:chOff x="0" y="0"/>
            <a:chExt cx="7227151" cy="2716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27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7227062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980174" y="0"/>
                  </a:lnTo>
                  <a:cubicBezTo>
                    <a:pt x="7116572" y="0"/>
                    <a:pt x="7227062" y="110490"/>
                    <a:pt x="7227062" y="246888"/>
                  </a:cubicBezTo>
                  <a:lnTo>
                    <a:pt x="7227062" y="2469134"/>
                  </a:lnTo>
                  <a:cubicBezTo>
                    <a:pt x="7227062" y="2605532"/>
                    <a:pt x="7116572" y="2716022"/>
                    <a:pt x="6980174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508992" y="2651760"/>
            <a:ext cx="5394960" cy="1188720"/>
            <a:chOff x="0" y="0"/>
            <a:chExt cx="7193280" cy="1584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9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2" r="0" b="-3843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52400"/>
              <a:ext cx="719328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~30s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508992" y="3840480"/>
            <a:ext cx="5394960" cy="548640"/>
            <a:chOff x="0" y="0"/>
            <a:chExt cx="71932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9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19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Stable Walk Duration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4925063"/>
            <a:ext cx="8255003" cy="4597403"/>
            <a:chOff x="0" y="0"/>
            <a:chExt cx="11006671" cy="61298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06709" cy="6129909"/>
            </a:xfrm>
            <a:custGeom>
              <a:avLst/>
              <a:gdLst/>
              <a:ahLst/>
              <a:cxnLst/>
              <a:rect r="r" b="b" t="t" l="l"/>
              <a:pathLst>
                <a:path h="6129909" w="11006709">
                  <a:moveTo>
                    <a:pt x="0" y="245237"/>
                  </a:moveTo>
                  <a:cubicBezTo>
                    <a:pt x="0" y="109728"/>
                    <a:pt x="109728" y="0"/>
                    <a:pt x="245237" y="0"/>
                  </a:cubicBezTo>
                  <a:lnTo>
                    <a:pt x="10761472" y="0"/>
                  </a:lnTo>
                  <a:cubicBezTo>
                    <a:pt x="10896853" y="0"/>
                    <a:pt x="11006709" y="109728"/>
                    <a:pt x="11006709" y="245237"/>
                  </a:cubicBezTo>
                  <a:lnTo>
                    <a:pt x="11006709" y="5884672"/>
                  </a:lnTo>
                  <a:cubicBezTo>
                    <a:pt x="11006709" y="6020054"/>
                    <a:pt x="10896981" y="6129909"/>
                    <a:pt x="10761472" y="6129909"/>
                  </a:cubicBezTo>
                  <a:lnTo>
                    <a:pt x="245237" y="6129909"/>
                  </a:lnTo>
                  <a:cubicBezTo>
                    <a:pt x="109728" y="6129909"/>
                    <a:pt x="0" y="6020054"/>
                    <a:pt x="0" y="5884672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" y="5157216"/>
            <a:ext cx="7680960" cy="548640"/>
            <a:chOff x="0" y="0"/>
            <a:chExt cx="102412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2412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Achieved Behaviors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8720" y="5852160"/>
            <a:ext cx="7680960" cy="621792"/>
            <a:chOff x="0" y="0"/>
            <a:chExt cx="1024128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Stable upright posture maintained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720" y="6547104"/>
            <a:ext cx="7680960" cy="621792"/>
            <a:chOff x="0" y="0"/>
            <a:chExt cx="1024128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forward locomotion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" y="7242048"/>
            <a:ext cx="7680960" cy="621792"/>
            <a:chOff x="0" y="0"/>
            <a:chExt cx="10241280" cy="8290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Coordinated lower-body movement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8720" y="7936992"/>
            <a:ext cx="7680960" cy="621792"/>
            <a:chOff x="0" y="0"/>
            <a:chExt cx="10241280" cy="8290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 balance recovery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" y="8631936"/>
            <a:ext cx="7680960" cy="621792"/>
            <a:chOff x="0" y="0"/>
            <a:chExt cx="10241280" cy="8290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Smooth, natural walking trajectory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8720" y="9326880"/>
            <a:ext cx="7680960" cy="621792"/>
            <a:chOff x="0" y="0"/>
            <a:chExt cx="10241280" cy="8290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C5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Reduced actuator effort (control cost minimized)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97063" y="4925063"/>
            <a:ext cx="7797803" cy="4597403"/>
            <a:chOff x="0" y="0"/>
            <a:chExt cx="10397071" cy="61298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97109" cy="6129909"/>
            </a:xfrm>
            <a:custGeom>
              <a:avLst/>
              <a:gdLst/>
              <a:ahLst/>
              <a:cxnLst/>
              <a:rect r="r" b="b" t="t" l="l"/>
              <a:pathLst>
                <a:path h="6129909" w="10397109">
                  <a:moveTo>
                    <a:pt x="0" y="245237"/>
                  </a:moveTo>
                  <a:cubicBezTo>
                    <a:pt x="0" y="109728"/>
                    <a:pt x="109728" y="0"/>
                    <a:pt x="245237" y="0"/>
                  </a:cubicBezTo>
                  <a:lnTo>
                    <a:pt x="10151872" y="0"/>
                  </a:lnTo>
                  <a:cubicBezTo>
                    <a:pt x="10287253" y="0"/>
                    <a:pt x="10397109" y="109728"/>
                    <a:pt x="10397109" y="245237"/>
                  </a:cubicBezTo>
                  <a:lnTo>
                    <a:pt x="10397109" y="5884672"/>
                  </a:lnTo>
                  <a:cubicBezTo>
                    <a:pt x="10397109" y="6020054"/>
                    <a:pt x="10287381" y="6129909"/>
                    <a:pt x="10151872" y="6129909"/>
                  </a:cubicBezTo>
                  <a:lnTo>
                    <a:pt x="245237" y="6129909"/>
                  </a:lnTo>
                  <a:cubicBezTo>
                    <a:pt x="109728" y="6129909"/>
                    <a:pt x="0" y="6020054"/>
                    <a:pt x="0" y="5884672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D2144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784080" y="5157216"/>
            <a:ext cx="7223760" cy="548640"/>
            <a:chOff x="0" y="0"/>
            <a:chExt cx="963168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631680" cy="731520"/>
            </a:xfrm>
            <a:custGeom>
              <a:avLst/>
              <a:gdLst/>
              <a:ahLst/>
              <a:cxnLst/>
              <a:rect r="r" b="b" t="t" l="l"/>
              <a:pathLst>
                <a:path h="7315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53" r="0" b="-20655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6316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 Progression</a:t>
              </a:r>
            </a:p>
          </p:txBody>
        </p:sp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32520" y="4983480"/>
            <a:ext cx="93268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457200"/>
            <a:chOff x="0" y="0"/>
            <a:chExt cx="21945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06070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Technologies &amp; Frameworks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218439"/>
            <a:ext cx="16484603" cy="80267"/>
            <a:chOff x="0" y="0"/>
            <a:chExt cx="21979471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07061"/>
            </a:xfrm>
            <a:custGeom>
              <a:avLst/>
              <a:gdLst/>
              <a:ahLst/>
              <a:cxnLst/>
              <a:rect r="r" b="b" t="t" l="l"/>
              <a:pathLst>
                <a:path h="10706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112B5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639063"/>
            <a:ext cx="4012187" cy="2951483"/>
            <a:chOff x="0" y="0"/>
            <a:chExt cx="5349583" cy="3935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273303" y="2968247"/>
            <a:ext cx="1268987" cy="1268987"/>
            <a:chOff x="0" y="0"/>
            <a:chExt cx="1691983" cy="16919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00C2CB">
                <a:alpha val="3137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286000" y="2980944"/>
            <a:ext cx="1243584" cy="1243584"/>
            <a:chOff x="0" y="0"/>
            <a:chExt cx="1658112" cy="16581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389120"/>
            <a:ext cx="3986784" cy="548640"/>
            <a:chOff x="0" y="0"/>
            <a:chExt cx="5315712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937760"/>
            <a:ext cx="3986784" cy="457200"/>
            <a:chOff x="0" y="0"/>
            <a:chExt cx="5315712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language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35959" y="2639063"/>
            <a:ext cx="4012187" cy="2951483"/>
            <a:chOff x="0" y="0"/>
            <a:chExt cx="5349583" cy="39353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607559" y="2968247"/>
            <a:ext cx="1268987" cy="1268987"/>
            <a:chOff x="0" y="0"/>
            <a:chExt cx="1691983" cy="1691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F5C842">
                <a:alpha val="3137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620256" y="2980944"/>
            <a:ext cx="1243584" cy="1243584"/>
            <a:chOff x="0" y="0"/>
            <a:chExt cx="1658112" cy="16581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48656" y="4389120"/>
            <a:ext cx="3986784" cy="548640"/>
            <a:chOff x="0" y="0"/>
            <a:chExt cx="5315712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MuJoCo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48656" y="4937760"/>
            <a:ext cx="3986784" cy="457200"/>
            <a:chOff x="0" y="0"/>
            <a:chExt cx="5315712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 engine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70215" y="2639063"/>
            <a:ext cx="4012187" cy="2951483"/>
            <a:chOff x="0" y="0"/>
            <a:chExt cx="5349583" cy="39353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941815" y="2968247"/>
            <a:ext cx="1268987" cy="1268987"/>
            <a:chOff x="0" y="0"/>
            <a:chExt cx="1691983" cy="16919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22D3A5">
                <a:alpha val="3137"/>
              </a:srgbClr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954512" y="2980944"/>
            <a:ext cx="1243584" cy="1243584"/>
            <a:chOff x="0" y="0"/>
            <a:chExt cx="1658112" cy="16581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82912" y="4389120"/>
            <a:ext cx="3986784" cy="548640"/>
            <a:chOff x="0" y="0"/>
            <a:chExt cx="5315712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Gymnasium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82912" y="4937760"/>
            <a:ext cx="3986784" cy="457200"/>
            <a:chOff x="0" y="0"/>
            <a:chExt cx="5315712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Environment API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904471" y="2639063"/>
            <a:ext cx="4012187" cy="2951483"/>
            <a:chOff x="0" y="0"/>
            <a:chExt cx="5349583" cy="39353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5276071" y="2968247"/>
            <a:ext cx="1268987" cy="1268987"/>
            <a:chOff x="0" y="0"/>
            <a:chExt cx="1691983" cy="169198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00C2CB">
                <a:alpha val="3137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5288768" y="2980944"/>
            <a:ext cx="1243584" cy="1243584"/>
            <a:chOff x="0" y="0"/>
            <a:chExt cx="1658112" cy="16581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917168" y="4389120"/>
            <a:ext cx="3986784" cy="548640"/>
            <a:chOff x="0" y="0"/>
            <a:chExt cx="5315712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Stable-Baselines3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917168" y="4937760"/>
            <a:ext cx="3986784" cy="457200"/>
            <a:chOff x="0" y="0"/>
            <a:chExt cx="5315712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RL algorithms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1703" y="5930903"/>
            <a:ext cx="4012187" cy="2951483"/>
            <a:chOff x="0" y="0"/>
            <a:chExt cx="5349583" cy="39353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2273303" y="6260087"/>
            <a:ext cx="1268987" cy="1268987"/>
            <a:chOff x="0" y="0"/>
            <a:chExt cx="1691983" cy="169198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F5C842">
                <a:alpha val="3137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2286000" y="6272784"/>
            <a:ext cx="1243584" cy="1243584"/>
            <a:chOff x="0" y="0"/>
            <a:chExt cx="1658112" cy="16581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7680960"/>
            <a:ext cx="3986784" cy="548640"/>
            <a:chOff x="0" y="0"/>
            <a:chExt cx="5315712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PyTorch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14400" y="8229600"/>
            <a:ext cx="3986784" cy="457200"/>
            <a:chOff x="0" y="0"/>
            <a:chExt cx="5315712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Neural networks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235959" y="5930903"/>
            <a:ext cx="4012187" cy="2951483"/>
            <a:chOff x="0" y="0"/>
            <a:chExt cx="5349583" cy="39353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6607559" y="6260087"/>
            <a:ext cx="1268987" cy="1268987"/>
            <a:chOff x="0" y="0"/>
            <a:chExt cx="1691983" cy="169198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22D3A5">
                <a:alpha val="3137"/>
              </a:srgbClr>
            </a:solidFill>
            <a:ln w="25400" cap="sq">
              <a:solidFill>
                <a:srgbClr val="22D3A5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6620256" y="6272784"/>
            <a:ext cx="1243584" cy="1243584"/>
            <a:chOff x="0" y="0"/>
            <a:chExt cx="1658112" cy="16581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D3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248656" y="7680960"/>
            <a:ext cx="3986784" cy="548640"/>
            <a:chOff x="0" y="0"/>
            <a:chExt cx="5315712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NumPy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248656" y="8229600"/>
            <a:ext cx="3986784" cy="457200"/>
            <a:chOff x="0" y="0"/>
            <a:chExt cx="5315712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Numerics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570215" y="5930903"/>
            <a:ext cx="4012187" cy="2951483"/>
            <a:chOff x="0" y="0"/>
            <a:chExt cx="5349583" cy="393531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0941815" y="6260087"/>
            <a:ext cx="1268987" cy="1268987"/>
            <a:chOff x="0" y="0"/>
            <a:chExt cx="1691983" cy="169198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FF6B6B">
                <a:alpha val="3137"/>
              </a:srgbClr>
            </a:solidFill>
            <a:ln w="254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954512" y="6272784"/>
            <a:ext cx="1243584" cy="1243584"/>
            <a:chOff x="0" y="0"/>
            <a:chExt cx="1658112" cy="16581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82912" y="7680960"/>
            <a:ext cx="3986784" cy="548640"/>
            <a:chOff x="0" y="0"/>
            <a:chExt cx="5315712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TensorBoard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82912" y="8229600"/>
            <a:ext cx="3986784" cy="457200"/>
            <a:chOff x="0" y="0"/>
            <a:chExt cx="5315712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Visualization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904471" y="5930903"/>
            <a:ext cx="4012187" cy="2951483"/>
            <a:chOff x="0" y="0"/>
            <a:chExt cx="5349583" cy="393531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49621" cy="3935349"/>
            </a:xfrm>
            <a:custGeom>
              <a:avLst/>
              <a:gdLst/>
              <a:ahLst/>
              <a:cxnLst/>
              <a:rect r="r" b="b" t="t" l="l"/>
              <a:pathLst>
                <a:path h="3935349" w="5349621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5103622" y="0"/>
                  </a:lnTo>
                  <a:cubicBezTo>
                    <a:pt x="5239512" y="0"/>
                    <a:pt x="5349621" y="110109"/>
                    <a:pt x="5349621" y="245999"/>
                  </a:cubicBezTo>
                  <a:lnTo>
                    <a:pt x="5349621" y="3689350"/>
                  </a:lnTo>
                  <a:cubicBezTo>
                    <a:pt x="5349621" y="3825240"/>
                    <a:pt x="5239512" y="3935349"/>
                    <a:pt x="5103622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8899BB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5276071" y="6260087"/>
            <a:ext cx="1268987" cy="1268987"/>
            <a:chOff x="0" y="0"/>
            <a:chExt cx="1691983" cy="169198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691894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91894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1443101" y="0"/>
                  </a:lnTo>
                  <a:cubicBezTo>
                    <a:pt x="1580515" y="0"/>
                    <a:pt x="1691894" y="111379"/>
                    <a:pt x="1691894" y="248793"/>
                  </a:cubicBezTo>
                  <a:lnTo>
                    <a:pt x="1691894" y="1443101"/>
                  </a:lnTo>
                  <a:cubicBezTo>
                    <a:pt x="1691894" y="1580515"/>
                    <a:pt x="1580515" y="1691894"/>
                    <a:pt x="1443101" y="1691894"/>
                  </a:cubicBezTo>
                  <a:lnTo>
                    <a:pt x="248793" y="1691894"/>
                  </a:lnTo>
                  <a:cubicBezTo>
                    <a:pt x="111379" y="1692021"/>
                    <a:pt x="0" y="1580515"/>
                    <a:pt x="0" y="1443101"/>
                  </a:cubicBezTo>
                  <a:close/>
                </a:path>
              </a:pathLst>
            </a:custGeom>
            <a:solidFill>
              <a:srgbClr val="8899BB">
                <a:alpha val="3137"/>
              </a:srgbClr>
            </a:solidFill>
            <a:ln w="25400" cap="sq">
              <a:solidFill>
                <a:srgbClr val="8899BB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5288768" y="6272784"/>
            <a:ext cx="1243584" cy="1243584"/>
            <a:chOff x="0" y="0"/>
            <a:chExt cx="1658112" cy="165811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581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1658112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8899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917168" y="7680960"/>
            <a:ext cx="3986784" cy="548640"/>
            <a:chOff x="0" y="0"/>
            <a:chExt cx="5315712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imageio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917168" y="8229600"/>
            <a:ext cx="3986784" cy="457200"/>
            <a:chOff x="0" y="0"/>
            <a:chExt cx="5315712" cy="6096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 export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1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-184149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00C2CB">
                <a:alpha val="392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617703" y="638810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F5C842">
                <a:alpha val="392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828800" y="914400"/>
            <a:ext cx="14630400" cy="548640"/>
            <a:chOff x="0" y="0"/>
            <a:chExt cx="19507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507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b="true" sz="1600" spc="600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1609344"/>
            <a:ext cx="14630400" cy="1188720"/>
            <a:chOff x="0" y="0"/>
            <a:chExt cx="19507200" cy="1584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95072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Takeaways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1703" y="3187703"/>
            <a:ext cx="8163563" cy="2549147"/>
            <a:chOff x="0" y="0"/>
            <a:chExt cx="10884751" cy="33988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8466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0884662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10638409" y="0"/>
                  </a:lnTo>
                  <a:cubicBezTo>
                    <a:pt x="10774426" y="0"/>
                    <a:pt x="10884662" y="110236"/>
                    <a:pt x="10884662" y="246253"/>
                  </a:cubicBezTo>
                  <a:lnTo>
                    <a:pt x="10884662" y="3152521"/>
                  </a:lnTo>
                  <a:cubicBezTo>
                    <a:pt x="10884662" y="3288538"/>
                    <a:pt x="10774426" y="3398774"/>
                    <a:pt x="10638409" y="3398774"/>
                  </a:cubicBezTo>
                  <a:lnTo>
                    <a:pt x="246253" y="3398774"/>
                  </a:lnTo>
                  <a:cubicBezTo>
                    <a:pt x="110236" y="3398901"/>
                    <a:pt x="0" y="3288538"/>
                    <a:pt x="0" y="3152521"/>
                  </a:cubicBez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43584" y="3419856"/>
            <a:ext cx="7498080" cy="548640"/>
            <a:chOff x="0" y="0"/>
            <a:chExt cx="99974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997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 is Effective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3584" y="4030599"/>
            <a:ext cx="74980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Proximal Policy Optimization reliably solves high-dimensional continuous control — stable updates and strong sample efficiency make it ideal for humanoid locomotion.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88503" y="3187703"/>
            <a:ext cx="8163563" cy="2549147"/>
            <a:chOff x="0" y="0"/>
            <a:chExt cx="10884751" cy="33988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8466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0884662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10638409" y="0"/>
                  </a:lnTo>
                  <a:cubicBezTo>
                    <a:pt x="10774426" y="0"/>
                    <a:pt x="10884662" y="110236"/>
                    <a:pt x="10884662" y="246253"/>
                  </a:cubicBezTo>
                  <a:lnTo>
                    <a:pt x="10884662" y="3152521"/>
                  </a:lnTo>
                  <a:cubicBezTo>
                    <a:pt x="10884662" y="3288538"/>
                    <a:pt x="10774426" y="3398774"/>
                    <a:pt x="10638409" y="3398774"/>
                  </a:cubicBezTo>
                  <a:lnTo>
                    <a:pt x="246253" y="3398774"/>
                  </a:lnTo>
                  <a:cubicBezTo>
                    <a:pt x="110236" y="3398901"/>
                    <a:pt x="0" y="3288538"/>
                    <a:pt x="0" y="3152521"/>
                  </a:cubicBez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30384" y="3419856"/>
            <a:ext cx="7498080" cy="548640"/>
            <a:chOff x="0" y="0"/>
            <a:chExt cx="99974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997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Parallelization Matters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30384" y="4030599"/>
            <a:ext cx="74980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12 parallel workers dramatically reduce wall-clock training time by diversifying experience collection and improving batch quality.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1703" y="6022343"/>
            <a:ext cx="8163563" cy="2549147"/>
            <a:chOff x="0" y="0"/>
            <a:chExt cx="10884751" cy="33988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8466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0884662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10638409" y="0"/>
                  </a:lnTo>
                  <a:cubicBezTo>
                    <a:pt x="10774426" y="0"/>
                    <a:pt x="10884662" y="110236"/>
                    <a:pt x="10884662" y="246253"/>
                  </a:cubicBezTo>
                  <a:lnTo>
                    <a:pt x="10884662" y="3152521"/>
                  </a:lnTo>
                  <a:cubicBezTo>
                    <a:pt x="10884662" y="3288538"/>
                    <a:pt x="10774426" y="3398774"/>
                    <a:pt x="10638409" y="3398774"/>
                  </a:cubicBezTo>
                  <a:lnTo>
                    <a:pt x="246253" y="3398774"/>
                  </a:lnTo>
                  <a:cubicBezTo>
                    <a:pt x="110236" y="3398901"/>
                    <a:pt x="0" y="3288538"/>
                    <a:pt x="0" y="3152521"/>
                  </a:cubicBez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3584" y="6254496"/>
            <a:ext cx="7498080" cy="548640"/>
            <a:chOff x="0" y="0"/>
            <a:chExt cx="99974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997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Normalization is Critical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43584" y="6865239"/>
            <a:ext cx="74980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VecNormalize stabilizes training by preventing large observation or reward values from destabilizing gradient updates.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88503" y="6022343"/>
            <a:ext cx="8163563" cy="2549147"/>
            <a:chOff x="0" y="0"/>
            <a:chExt cx="10884751" cy="33988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8466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0884662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10638409" y="0"/>
                  </a:lnTo>
                  <a:cubicBezTo>
                    <a:pt x="10774426" y="0"/>
                    <a:pt x="10884662" y="110236"/>
                    <a:pt x="10884662" y="246253"/>
                  </a:cubicBezTo>
                  <a:lnTo>
                    <a:pt x="10884662" y="3152521"/>
                  </a:lnTo>
                  <a:cubicBezTo>
                    <a:pt x="10884662" y="3288538"/>
                    <a:pt x="10774426" y="3398774"/>
                    <a:pt x="10638409" y="3398774"/>
                  </a:cubicBezTo>
                  <a:lnTo>
                    <a:pt x="246253" y="3398774"/>
                  </a:lnTo>
                  <a:cubicBezTo>
                    <a:pt x="110236" y="3398901"/>
                    <a:pt x="0" y="3288538"/>
                    <a:pt x="0" y="3152521"/>
                  </a:cubicBezTo>
                  <a:close/>
                </a:path>
              </a:pathLst>
            </a:custGeom>
            <a:solidFill>
              <a:srgbClr val="0D2144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930384" y="6254496"/>
            <a:ext cx="7498080" cy="548640"/>
            <a:chOff x="0" y="0"/>
            <a:chExt cx="99974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997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 Shaping Works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930384" y="6865239"/>
            <a:ext cx="74980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5D0E6"/>
                </a:solidFill>
                <a:latin typeface="Calibri (MS)"/>
                <a:ea typeface="Calibri (MS)"/>
                <a:cs typeface="Calibri (MS)"/>
                <a:sym typeface="Calibri (MS)"/>
              </a:rPr>
              <a:t>Composite rewards balancing speed, health, and efficiency guide the agent naturally toward stable, coordinated walking behavior.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88103" y="-3670297"/>
            <a:ext cx="12827003" cy="12827003"/>
            <a:chOff x="0" y="0"/>
            <a:chExt cx="17102671" cy="1710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02582" cy="17102582"/>
            </a:xfrm>
            <a:custGeom>
              <a:avLst/>
              <a:gdLst/>
              <a:ahLst/>
              <a:cxnLst/>
              <a:rect r="r" b="b" t="t" l="l"/>
              <a:pathLst>
                <a:path h="17102582" w="17102582">
                  <a:moveTo>
                    <a:pt x="0" y="8551291"/>
                  </a:moveTo>
                  <a:cubicBezTo>
                    <a:pt x="0" y="3828542"/>
                    <a:pt x="3828542" y="0"/>
                    <a:pt x="8551291" y="0"/>
                  </a:cubicBezTo>
                  <a:cubicBezTo>
                    <a:pt x="13274041" y="0"/>
                    <a:pt x="17102582" y="3828542"/>
                    <a:pt x="17102582" y="8551291"/>
                  </a:cubicBezTo>
                  <a:cubicBezTo>
                    <a:pt x="17102582" y="13274041"/>
                    <a:pt x="13274041" y="17102582"/>
                    <a:pt x="8551291" y="17102582"/>
                  </a:cubicBezTo>
                  <a:cubicBezTo>
                    <a:pt x="3828542" y="17102582"/>
                    <a:pt x="0" y="13274167"/>
                    <a:pt x="0" y="8551291"/>
                  </a:cubicBezTo>
                  <a:close/>
                </a:path>
              </a:pathLst>
            </a:custGeom>
            <a:solidFill>
              <a:srgbClr val="00C2CB">
                <a:alpha val="0"/>
              </a:srgbClr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755897" y="5473703"/>
            <a:ext cx="7340603" cy="7340603"/>
            <a:chOff x="0" y="0"/>
            <a:chExt cx="9787471" cy="9787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F5C842">
                <a:alpha val="0"/>
              </a:srgbClr>
            </a:solidFill>
            <a:ln w="25400" cap="sq">
              <a:solidFill>
                <a:srgbClr val="F5C84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16459200" cy="1828800"/>
            <a:chOff x="0" y="0"/>
            <a:chExt cx="21945600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9550"/>
              <a:ext cx="21945600" cy="2647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4206240"/>
            <a:ext cx="16459200" cy="731520"/>
            <a:chOff x="0" y="0"/>
            <a:chExt cx="219456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C2C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88103" y="5290823"/>
            <a:ext cx="5511803" cy="80267"/>
            <a:chOff x="0" y="0"/>
            <a:chExt cx="7349071" cy="107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9109" cy="107061"/>
            </a:xfrm>
            <a:custGeom>
              <a:avLst/>
              <a:gdLst/>
              <a:ahLst/>
              <a:cxnLst/>
              <a:rect r="r" b="b" t="t" l="l"/>
              <a:pathLst>
                <a:path h="107061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00C2CB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5760720"/>
            <a:ext cx="16459200" cy="548640"/>
            <a:chOff x="0" y="0"/>
            <a:chExt cx="219456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Rida Saeed  ·  MSCSF25M017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6400800"/>
            <a:ext cx="16459200" cy="512064"/>
            <a:chOff x="0" y="0"/>
            <a:chExt cx="219456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M.Sc. Computer Science  ·  PUCIT, University of the Punjab, Lahore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6986016"/>
            <a:ext cx="16459200" cy="512064"/>
            <a:chOff x="0" y="0"/>
            <a:chExt cx="219456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 Dr. Nazar Ameen Khan  ·  Assistant Professor, PUCIT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73703" y="8034023"/>
            <a:ext cx="7340603" cy="1031243"/>
            <a:chOff x="0" y="0"/>
            <a:chExt cx="9787471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87636" cy="1375156"/>
            </a:xfrm>
            <a:custGeom>
              <a:avLst/>
              <a:gdLst/>
              <a:ahLst/>
              <a:cxnLst/>
              <a:rect r="r" b="b" t="t" l="l"/>
              <a:pathLst>
                <a:path h="1375156" w="978763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9537573" y="0"/>
                  </a:lnTo>
                  <a:cubicBezTo>
                    <a:pt x="9675622" y="0"/>
                    <a:pt x="9787636" y="111887"/>
                    <a:pt x="9787636" y="250063"/>
                  </a:cubicBezTo>
                  <a:lnTo>
                    <a:pt x="9787636" y="1125093"/>
                  </a:lnTo>
                  <a:cubicBezTo>
                    <a:pt x="9787636" y="1263142"/>
                    <a:pt x="9675749" y="1375156"/>
                    <a:pt x="953757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112B5A"/>
            </a:solidFill>
            <a:ln w="25400" cap="sq">
              <a:solidFill>
                <a:srgbClr val="00C2C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486400" y="8046720"/>
            <a:ext cx="7315200" cy="1005840"/>
            <a:chOff x="0" y="0"/>
            <a:chExt cx="9753600" cy="1341120"/>
          </a:xfrm>
        </p:grpSpPr>
        <p:sp>
          <p:nvSpPr>
            <p:cNvPr name="Freeform 26" id="26">
              <a:hlinkClick r:id="rId4" tooltip="https://github.com/mscsf25m017-web/High-Dimensional-Humanoid-Locomotion-control-using-PPO"/>
            </p:cNvPr>
            <p:cNvSpPr/>
            <p:nvPr/>
          </p:nvSpPr>
          <p:spPr>
            <a:xfrm flipH="false" flipV="false" rot="0">
              <a:off x="0" y="0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53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u="sng">
                  <a:solidFill>
                    <a:srgbClr val="00C2CB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github.com/mscsf25m017-web/High-Dimensional-Humanoid-Locomotion-control-using-PPO"/>
                </a:rPr>
                <a:t>GitHub: github.com/&lt;MSCSF25M017-Rida Saeed&gt;/&lt;https://github.com/mscsf25m017-web/High-Dimensional-Humanoid-Locomotion-control-using-PPO&gt;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DAHMICzBHsw</dc:identifier>
  <dcterms:modified xsi:type="dcterms:W3CDTF">2011-08-01T06:04:30Z</dcterms:modified>
  <cp:revision>1</cp:revision>
  <dc:title>Humanoid_PPO_Presentation.pptx</dc:title>
</cp:coreProperties>
</file>